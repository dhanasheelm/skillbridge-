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55448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33172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10896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88620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66344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4068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4964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32688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10412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88136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65860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77724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155448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233172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310896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388620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466344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544068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621792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686800" y="2011680"/>
            <a:ext cx="3291840" cy="3291840"/>
          </a:xfrm>
          <a:prstGeom prst="ellipse">
            <a:avLst/>
          </a:prstGeom>
          <a:solidFill>
            <a:srgbClr val="9A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601200" y="4572000"/>
            <a:ext cx="3291840" cy="3291840"/>
          </a:xfrm>
          <a:prstGeom prst="ellipse">
            <a:avLst/>
          </a:prstGeom>
          <a:solidFill>
            <a:srgbClr val="66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Diamond 27"/>
          <p:cNvSpPr/>
          <p:nvPr/>
        </p:nvSpPr>
        <p:spPr>
          <a:xfrm>
            <a:off x="548640" y="411480"/>
            <a:ext cx="411480" cy="411480"/>
          </a:xfrm>
          <a:prstGeom prst="diamond">
            <a:avLst/>
          </a:prstGeom>
          <a:noFill/>
          <a:ln w="17780">
            <a:solidFill>
              <a:srgbClr val="66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64927" y="527767"/>
            <a:ext cx="178904" cy="178904"/>
          </a:xfrm>
          <a:prstGeom prst="ellipse">
            <a:avLst/>
          </a:prstGeom>
          <a:solidFill>
            <a:srgbClr val="9A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7280" y="393192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180">
                <a:solidFill>
                  <a:srgbClr val="F6F7FB"/>
                </a:solidFill>
                <a:latin typeface="Calibri"/>
              </a:rPr>
              <a:t/>
            </a:r>
            <a:r>
              <a:rPr sz="1300" b="1" spc="220">
                <a:solidFill>
                  <a:srgbClr val="F6F7FB"/>
                </a:solidFill>
                <a:latin typeface="Calibri"/>
              </a:rPr>
              <a:t>SKILL</a:t>
            </a:r>
            <a:r>
              <a:rPr sz="1300" b="1" spc="220">
                <a:solidFill>
                  <a:srgbClr val="66E4EE"/>
                </a:solidFill>
                <a:latin typeface="Calibri"/>
              </a:rPr>
              <a:t>BRIDGE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0" y="5029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180">
                <a:solidFill>
                  <a:srgbClr val="66E4EE"/>
                </a:solidFill>
                <a:latin typeface="Consolas"/>
              </a:rPr>
              <a:t>· AI HACKATHON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21945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180">
                <a:solidFill>
                  <a:srgbClr val="66E4EE"/>
                </a:solidFill>
                <a:latin typeface="Consolas"/>
              </a:rPr>
              <a:t>BRIDGE YOUR NEXT CHAPTER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2514600"/>
            <a:ext cx="10972800" cy="3017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2000"/>
              </a:lnSpc>
            </a:pPr>
            <a:r>
              <a:rPr sz="7200" b="1">
                <a:solidFill>
                  <a:srgbClr val="F6F7FB"/>
                </a:solidFill>
                <a:latin typeface="Calibri"/>
              </a:rPr>
              <a:t>Bridge your skills.</a:t>
            </a:r>
          </a:p>
          <a:p>
            <a:pPr>
              <a:lnSpc>
                <a:spcPct val="102000"/>
              </a:lnSpc>
            </a:pPr>
            <a:r>
              <a:rPr sz="7200" b="1">
                <a:solidFill>
                  <a:srgbClr val="9A7AFF"/>
                </a:solidFill>
                <a:latin typeface="Calibri"/>
              </a:rPr>
              <a:t>Discover </a:t>
            </a:r>
            <a:r>
              <a:rPr sz="7200" b="1">
                <a:solidFill>
                  <a:srgbClr val="F6F7FB"/>
                </a:solidFill>
                <a:latin typeface="Calibri"/>
              </a:rPr>
              <a:t>your opportunities.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548640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9299AD"/>
                </a:solidFill>
                <a:latin typeface="Calibri"/>
              </a:rPr>
              <a:t>AI-powered opportunities built around what you can do.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6126480"/>
            <a:ext cx="1737360" cy="292608"/>
          </a:xfrm>
          <a:prstGeom prst="roundRect">
            <a:avLst/>
          </a:prstGeom>
          <a:solidFill>
            <a:srgbClr val="101F27"/>
          </a:solidFill>
          <a:ln w="9525">
            <a:solidFill>
              <a:srgbClr val="66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900" b="1">
                <a:solidFill>
                  <a:srgbClr val="66E4EE"/>
                </a:solidFill>
                <a:latin typeface="Consolas"/>
              </a:rPr>
              <a:t>AI SKILL MATCH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468880" y="6126480"/>
            <a:ext cx="1920240" cy="292608"/>
          </a:xfrm>
          <a:prstGeom prst="roundRect">
            <a:avLst/>
          </a:prstGeom>
          <a:solidFill>
            <a:srgbClr val="101F27"/>
          </a:solidFill>
          <a:ln w="9525">
            <a:solidFill>
              <a:srgbClr val="9A7A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900" b="1">
                <a:solidFill>
                  <a:srgbClr val="9A7AFF"/>
                </a:solidFill>
                <a:latin typeface="Consolas"/>
              </a:rPr>
              <a:t>STUDENTS + PROS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0" y="6126480"/>
            <a:ext cx="1920240" cy="292608"/>
          </a:xfrm>
          <a:prstGeom prst="roundRect">
            <a:avLst/>
          </a:prstGeom>
          <a:solidFill>
            <a:srgbClr val="101F27"/>
          </a:solidFill>
          <a:ln w="9525">
            <a:solidFill>
              <a:srgbClr val="F78A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900" b="1">
                <a:solidFill>
                  <a:srgbClr val="F78AD5"/>
                </a:solidFill>
                <a:latin typeface="Consolas"/>
              </a:rPr>
              <a:t>HIRING PIPELINE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0" y="612648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spc="180">
                <a:solidFill>
                  <a:srgbClr val="9299AD"/>
                </a:solidFill>
                <a:latin typeface="Consolas"/>
              </a:rPr>
              <a:t>Team · Hackathon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8016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92024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4048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8056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12064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6072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04088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8096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32104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96112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60120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24128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88136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152144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216152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008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128016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192024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256032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320040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384048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448056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512064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576072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640080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Diamond 31"/>
          <p:cNvSpPr/>
          <p:nvPr/>
        </p:nvSpPr>
        <p:spPr>
          <a:xfrm>
            <a:off x="548640" y="411480"/>
            <a:ext cx="411480" cy="411480"/>
          </a:xfrm>
          <a:prstGeom prst="diamond">
            <a:avLst/>
          </a:prstGeom>
          <a:noFill/>
          <a:ln w="17780">
            <a:solidFill>
              <a:srgbClr val="66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64927" y="527767"/>
            <a:ext cx="178904" cy="178904"/>
          </a:xfrm>
          <a:prstGeom prst="ellipse">
            <a:avLst/>
          </a:prstGeom>
          <a:solidFill>
            <a:srgbClr val="9A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97280" y="393192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180">
                <a:solidFill>
                  <a:srgbClr val="F6F7FB"/>
                </a:solidFill>
                <a:latin typeface="Calibri"/>
              </a:rPr>
              <a:t/>
            </a:r>
            <a:r>
              <a:rPr sz="1300" b="1" spc="220">
                <a:solidFill>
                  <a:srgbClr val="F6F7FB"/>
                </a:solidFill>
                <a:latin typeface="Calibri"/>
              </a:rPr>
              <a:t>SKILL</a:t>
            </a:r>
            <a:r>
              <a:rPr sz="1300" b="1" spc="220">
                <a:solidFill>
                  <a:srgbClr val="66E4EE"/>
                </a:solidFill>
                <a:latin typeface="Calibri"/>
              </a:rPr>
              <a:t>BRIDGE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10972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180">
                <a:solidFill>
                  <a:srgbClr val="66E4EE"/>
                </a:solidFill>
                <a:latin typeface="Consolas"/>
              </a:rPr>
              <a:t>01 · THE PROBLEM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94415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spc="120">
                <a:solidFill>
                  <a:srgbClr val="9299AD"/>
                </a:solidFill>
                <a:latin typeface="Consolas"/>
              </a:rPr>
              <a:t>01 / 11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180">
                <a:solidFill>
                  <a:srgbClr val="9299AD"/>
                </a:solidFill>
                <a:latin typeface="Consolas"/>
              </a:rPr>
              <a:t>SKILLBRIDGE  ·  BRIDGE YOUR SKILLS. DISCOVER YOUR OPPORTUNITIES.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1417320"/>
            <a:ext cx="109728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5400" b="1">
                <a:solidFill>
                  <a:srgbClr val="F6F7FB"/>
                </a:solidFill>
                <a:latin typeface="Calibri"/>
              </a:rPr>
              <a:t>Talent and opportunity</a:t>
            </a:r>
          </a:p>
          <a:p>
            <a:pPr algn="l">
              <a:lnSpc>
                <a:spcPct val="102000"/>
              </a:lnSpc>
            </a:pPr>
            <a:r>
              <a:rPr sz="5400" b="1">
                <a:solidFill>
                  <a:srgbClr val="F6F7FB"/>
                </a:solidFill>
                <a:latin typeface="Calibri"/>
              </a:rPr>
              <a:t>keep missing each other.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3840480"/>
            <a:ext cx="3703320" cy="2286000"/>
          </a:xfrm>
          <a:prstGeom prst="rect">
            <a:avLst/>
          </a:prstGeom>
          <a:solidFill>
            <a:srgbClr val="141A2B"/>
          </a:solidFill>
          <a:ln w="9525">
            <a:solidFill>
              <a:srgbClr val="2A3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48640" y="3840480"/>
            <a:ext cx="3703320" cy="45720"/>
          </a:xfrm>
          <a:prstGeom prst="rect">
            <a:avLst/>
          </a:prstGeom>
          <a:solidFill>
            <a:srgbClr val="9A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2960" y="4160520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F6F7FB"/>
                </a:solidFill>
                <a:latin typeface="Calibri"/>
              </a:rPr>
              <a:t>Generic listings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60" y="4663440"/>
            <a:ext cx="31546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9299AD"/>
                </a:solidFill>
                <a:latin typeface="Calibri"/>
              </a:rPr>
              <a:t>Students scroll past hundreds of roles they don’t fit.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9299AD"/>
                </a:solidFill>
                <a:latin typeface="Calibri"/>
              </a:rPr>
              <a:t>Relevance is buried inside filters that need a resume they don’t have yet.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389120" y="3840480"/>
            <a:ext cx="3703320" cy="2286000"/>
          </a:xfrm>
          <a:prstGeom prst="rect">
            <a:avLst/>
          </a:prstGeom>
          <a:solidFill>
            <a:srgbClr val="141A2B"/>
          </a:solidFill>
          <a:ln w="9525">
            <a:solidFill>
              <a:srgbClr val="2A3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389120" y="3840480"/>
            <a:ext cx="3703320" cy="45720"/>
          </a:xfrm>
          <a:prstGeom prst="rect">
            <a:avLst/>
          </a:prstGeom>
          <a:solidFill>
            <a:srgbClr val="66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663440" y="4160520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F6F7FB"/>
                </a:solidFill>
                <a:latin typeface="Calibri"/>
              </a:rPr>
              <a:t>Skills go invisible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63440" y="4663440"/>
            <a:ext cx="31546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9299AD"/>
                </a:solidFill>
                <a:latin typeface="Calibri"/>
              </a:rPr>
              <a:t>Freelancers and skilled professionals waste hours proving what a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9299AD"/>
                </a:solidFill>
                <a:latin typeface="Calibri"/>
              </a:rPr>
              <a:t>2-line search bar cannot see — projects, side wins, portfolios.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229600" y="3840480"/>
            <a:ext cx="3703320" cy="2286000"/>
          </a:xfrm>
          <a:prstGeom prst="rect">
            <a:avLst/>
          </a:prstGeom>
          <a:solidFill>
            <a:srgbClr val="141A2B"/>
          </a:solidFill>
          <a:ln w="9525">
            <a:solidFill>
              <a:srgbClr val="2A3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229600" y="3840480"/>
            <a:ext cx="3703320" cy="45720"/>
          </a:xfrm>
          <a:prstGeom prst="rect">
            <a:avLst/>
          </a:prstGeom>
          <a:solidFill>
            <a:srgbClr val="F78A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503920" y="4160520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F6F7FB"/>
                </a:solidFill>
                <a:latin typeface="Calibri"/>
              </a:rPr>
              <a:t>Hiring is fragmented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03920" y="4663440"/>
            <a:ext cx="31546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9299AD"/>
                </a:solidFill>
                <a:latin typeface="Calibri"/>
              </a:rPr>
              <a:t>Owners of internships and freelance briefs juggle inboxes, forms and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9299AD"/>
                </a:solidFill>
                <a:latin typeface="Calibri"/>
              </a:rPr>
              <a:t>spreadsheets — no clean pipeline from applicant to shortlist.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8016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92024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4048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8056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12064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6072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04088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8096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32104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96112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60120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24128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88136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152144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216152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008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128016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192024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256032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320040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384048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448056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512064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576072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640080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Diamond 31"/>
          <p:cNvSpPr/>
          <p:nvPr/>
        </p:nvSpPr>
        <p:spPr>
          <a:xfrm>
            <a:off x="548640" y="411480"/>
            <a:ext cx="411480" cy="411480"/>
          </a:xfrm>
          <a:prstGeom prst="diamond">
            <a:avLst/>
          </a:prstGeom>
          <a:noFill/>
          <a:ln w="17780">
            <a:solidFill>
              <a:srgbClr val="66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64927" y="527767"/>
            <a:ext cx="178904" cy="178904"/>
          </a:xfrm>
          <a:prstGeom prst="ellipse">
            <a:avLst/>
          </a:prstGeom>
          <a:solidFill>
            <a:srgbClr val="9A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97280" y="393192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180">
                <a:solidFill>
                  <a:srgbClr val="F6F7FB"/>
                </a:solidFill>
                <a:latin typeface="Calibri"/>
              </a:rPr>
              <a:t/>
            </a:r>
            <a:r>
              <a:rPr sz="1300" b="1" spc="220">
                <a:solidFill>
                  <a:srgbClr val="F6F7FB"/>
                </a:solidFill>
                <a:latin typeface="Calibri"/>
              </a:rPr>
              <a:t>SKILL</a:t>
            </a:r>
            <a:r>
              <a:rPr sz="1300" b="1" spc="220">
                <a:solidFill>
                  <a:srgbClr val="66E4EE"/>
                </a:solidFill>
                <a:latin typeface="Calibri"/>
              </a:rPr>
              <a:t>BRIDGE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10972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180">
                <a:solidFill>
                  <a:srgbClr val="66E4EE"/>
                </a:solidFill>
                <a:latin typeface="Consolas"/>
              </a:rPr>
              <a:t>02 · THE SOLUTION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94415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spc="120">
                <a:solidFill>
                  <a:srgbClr val="9299AD"/>
                </a:solidFill>
                <a:latin typeface="Consolas"/>
              </a:rPr>
              <a:t>02 / 11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180">
                <a:solidFill>
                  <a:srgbClr val="9299AD"/>
                </a:solidFill>
                <a:latin typeface="Consolas"/>
              </a:rPr>
              <a:t>SKILLBRIDGE  ·  BRIDGE YOUR SKILLS. DISCOVER YOUR OPPORTUNITIES.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1417320"/>
            <a:ext cx="82296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800" b="1">
                <a:solidFill>
                  <a:srgbClr val="F6F7FB"/>
                </a:solidFill>
                <a:latin typeface="Calibri"/>
              </a:rPr>
              <a:t>One AI-powered bridge.</a:t>
            </a:r>
          </a:p>
          <a:p>
            <a:pPr algn="l">
              <a:lnSpc>
                <a:spcPct val="105000"/>
              </a:lnSpc>
            </a:pPr>
            <a:r>
              <a:rPr sz="4800" b="1">
                <a:solidFill>
                  <a:srgbClr val="F6F7FB"/>
                </a:solidFill>
                <a:latin typeface="Calibri"/>
              </a:rPr>
              <a:t>Both sides of the market.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3383280"/>
            <a:ext cx="658368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500" b="0">
                <a:solidFill>
                  <a:srgbClr val="9299AD"/>
                </a:solidFill>
                <a:latin typeface="Calibri"/>
              </a:rPr>
              <a:t>SKILLBRIDGE learns what a person can actually do — skills, interests,</a:t>
            </a:r>
          </a:p>
          <a:p>
            <a:pPr algn="l">
              <a:lnSpc>
                <a:spcPct val="155000"/>
              </a:lnSpc>
            </a:pPr>
            <a:r>
              <a:rPr sz="1500" b="0">
                <a:solidFill>
                  <a:srgbClr val="9299AD"/>
                </a:solidFill>
                <a:latin typeface="Calibri"/>
              </a:rPr>
              <a:t>portfolio, past applications — and matches them to the opportunities</a:t>
            </a:r>
          </a:p>
          <a:p>
            <a:pPr algn="l">
              <a:lnSpc>
                <a:spcPct val="155000"/>
              </a:lnSpc>
            </a:pPr>
            <a:r>
              <a:rPr sz="1500" b="0">
                <a:solidFill>
                  <a:srgbClr val="9299AD"/>
                </a:solidFill>
                <a:latin typeface="Calibri"/>
              </a:rPr>
              <a:t>where they will meaningfully show up.</a:t>
            </a:r>
          </a:p>
          <a:p>
            <a:pPr algn="l">
              <a:lnSpc>
                <a:spcPct val="155000"/>
              </a:lnSpc>
            </a:pPr>
            <a:r>
              <a:rPr sz="1500" b="0">
                <a:solidFill>
                  <a:srgbClr val="9299AD"/>
                </a:solidFill>
                <a:latin typeface="Calibri"/>
              </a:rPr>
              <a:t/>
            </a:r>
          </a:p>
          <a:p>
            <a:pPr algn="l">
              <a:lnSpc>
                <a:spcPct val="155000"/>
              </a:lnSpc>
            </a:pPr>
            <a:r>
              <a:rPr sz="1500" b="0">
                <a:solidFill>
                  <a:srgbClr val="9299AD"/>
                </a:solidFill>
                <a:latin typeface="Calibri"/>
              </a:rPr>
              <a:t>For students it removes the noise. For professionals it surfaces work</a:t>
            </a:r>
          </a:p>
          <a:p>
            <a:pPr algn="l">
              <a:lnSpc>
                <a:spcPct val="155000"/>
              </a:lnSpc>
            </a:pPr>
            <a:r>
              <a:rPr sz="1500" b="0">
                <a:solidFill>
                  <a:srgbClr val="9299AD"/>
                </a:solidFill>
                <a:latin typeface="Calibri"/>
              </a:rPr>
              <a:t>worth their craft. For owners it turns an inbox into a pipeline.</a:t>
            </a:r>
          </a:p>
        </p:txBody>
      </p:sp>
      <p:sp>
        <p:nvSpPr>
          <p:cNvPr id="40" name="Oval 39"/>
          <p:cNvSpPr/>
          <p:nvPr/>
        </p:nvSpPr>
        <p:spPr>
          <a:xfrm>
            <a:off x="8778240" y="3703320"/>
            <a:ext cx="2194560" cy="2194560"/>
          </a:xfrm>
          <a:prstGeom prst="ellipse">
            <a:avLst/>
          </a:prstGeom>
          <a:solidFill>
            <a:srgbClr val="141A2B"/>
          </a:solidFill>
          <a:ln w="19050">
            <a:solidFill>
              <a:srgbClr val="9A7A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8458200" y="3383280"/>
            <a:ext cx="2834640" cy="2834640"/>
          </a:xfrm>
          <a:prstGeom prst="ellipse">
            <a:avLst/>
          </a:prstGeom>
          <a:noFill/>
          <a:ln w="6350">
            <a:solidFill>
              <a:srgbClr val="66E4EE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8138160" y="3063240"/>
            <a:ext cx="3474720" cy="3474720"/>
          </a:xfrm>
          <a:prstGeom prst="ellipse">
            <a:avLst/>
          </a:prstGeom>
          <a:noFill/>
          <a:ln w="6350">
            <a:solidFill>
              <a:srgbClr val="66E4EE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778240" y="438912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spc="180">
                <a:solidFill>
                  <a:srgbClr val="66E4EE"/>
                </a:solidFill>
                <a:latin typeface="Consolas"/>
              </a:rPr>
              <a:t>AI SKILL MATCH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78240" y="4663440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000" b="1">
                <a:solidFill>
                  <a:srgbClr val="F6F7FB"/>
                </a:solidFill>
                <a:latin typeface="Calibri"/>
              </a:rPr>
              <a:t>89%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8016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92024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4048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8056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12064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6072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04088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8096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32104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96112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60120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24128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88136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152144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216152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008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128016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192024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256032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320040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384048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448056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512064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576072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640080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Diamond 31"/>
          <p:cNvSpPr/>
          <p:nvPr/>
        </p:nvSpPr>
        <p:spPr>
          <a:xfrm>
            <a:off x="548640" y="411480"/>
            <a:ext cx="411480" cy="411480"/>
          </a:xfrm>
          <a:prstGeom prst="diamond">
            <a:avLst/>
          </a:prstGeom>
          <a:noFill/>
          <a:ln w="17780">
            <a:solidFill>
              <a:srgbClr val="66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64927" y="527767"/>
            <a:ext cx="178904" cy="178904"/>
          </a:xfrm>
          <a:prstGeom prst="ellipse">
            <a:avLst/>
          </a:prstGeom>
          <a:solidFill>
            <a:srgbClr val="9A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97280" y="393192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180">
                <a:solidFill>
                  <a:srgbClr val="F6F7FB"/>
                </a:solidFill>
                <a:latin typeface="Calibri"/>
              </a:rPr>
              <a:t/>
            </a:r>
            <a:r>
              <a:rPr sz="1300" b="1" spc="220">
                <a:solidFill>
                  <a:srgbClr val="F6F7FB"/>
                </a:solidFill>
                <a:latin typeface="Calibri"/>
              </a:rPr>
              <a:t>SKILL</a:t>
            </a:r>
            <a:r>
              <a:rPr sz="1300" b="1" spc="220">
                <a:solidFill>
                  <a:srgbClr val="66E4EE"/>
                </a:solidFill>
                <a:latin typeface="Calibri"/>
              </a:rPr>
              <a:t>BRIDGE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10972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180">
                <a:solidFill>
                  <a:srgbClr val="66E4EE"/>
                </a:solidFill>
                <a:latin typeface="Consolas"/>
              </a:rPr>
              <a:t>03 · WHAT WE BUILT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94415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spc="120">
                <a:solidFill>
                  <a:srgbClr val="9299AD"/>
                </a:solidFill>
                <a:latin typeface="Consolas"/>
              </a:rPr>
              <a:t>03 / 11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180">
                <a:solidFill>
                  <a:srgbClr val="9299AD"/>
                </a:solidFill>
                <a:latin typeface="Consolas"/>
              </a:rPr>
              <a:t>SKILLBRIDGE  ·  BRIDGE YOUR SKILLS. DISCOVER YOUR OPPORTUNITIES.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141732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>
                <a:solidFill>
                  <a:srgbClr val="F6F7FB"/>
                </a:solidFill>
                <a:latin typeface="Calibri"/>
              </a:rPr>
              <a:t>Everything you need for a</a:t>
            </a:r>
          </a:p>
          <a:p>
            <a:pPr algn="l">
              <a:lnSpc>
                <a:spcPct val="105000"/>
              </a:lnSpc>
            </a:pPr>
            <a:r>
              <a:rPr sz="4400" b="1">
                <a:solidFill>
                  <a:srgbClr val="F6F7FB"/>
                </a:solidFill>
                <a:latin typeface="Calibri"/>
              </a:rPr>
              <a:t>full two-sided demo.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3246120"/>
            <a:ext cx="2636443" cy="1371600"/>
          </a:xfrm>
          <a:prstGeom prst="rect">
            <a:avLst/>
          </a:prstGeom>
          <a:solidFill>
            <a:srgbClr val="141A2B"/>
          </a:solidFill>
          <a:ln w="9525">
            <a:solidFill>
              <a:srgbClr val="2A3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77240" y="3502152"/>
            <a:ext cx="146304" cy="146304"/>
          </a:xfrm>
          <a:prstGeom prst="ellipse">
            <a:avLst/>
          </a:prstGeom>
          <a:solidFill>
            <a:srgbClr val="9A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51560" y="3447288"/>
            <a:ext cx="1996363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6F7FB"/>
                </a:solidFill>
                <a:latin typeface="Calibri"/>
              </a:rPr>
              <a:t>Role Selection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7240" y="3886200"/>
            <a:ext cx="2179243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9299AD"/>
                </a:solidFill>
                <a:latin typeface="Calibri"/>
              </a:rPr>
              <a:t>Student / Skilled Professional flow with tailored onboarding.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367963" y="3246120"/>
            <a:ext cx="2636443" cy="1371600"/>
          </a:xfrm>
          <a:prstGeom prst="rect">
            <a:avLst/>
          </a:prstGeom>
          <a:solidFill>
            <a:srgbClr val="141A2B"/>
          </a:solidFill>
          <a:ln w="9525">
            <a:solidFill>
              <a:srgbClr val="2A3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3596563" y="3502152"/>
            <a:ext cx="146304" cy="146304"/>
          </a:xfrm>
          <a:prstGeom prst="ellipse">
            <a:avLst/>
          </a:prstGeom>
          <a:solidFill>
            <a:srgbClr val="66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870883" y="3447288"/>
            <a:ext cx="1996363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6F7FB"/>
                </a:solidFill>
                <a:latin typeface="Calibri"/>
              </a:rPr>
              <a:t>AI Skill Match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596563" y="3886200"/>
            <a:ext cx="2179243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9299AD"/>
                </a:solidFill>
                <a:latin typeface="Calibri"/>
              </a:rPr>
              <a:t>Deterministic overlap scoring · Home + Dashboard + Skill Match page.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187287" y="3246120"/>
            <a:ext cx="2636443" cy="1371600"/>
          </a:xfrm>
          <a:prstGeom prst="rect">
            <a:avLst/>
          </a:prstGeom>
          <a:solidFill>
            <a:srgbClr val="141A2B"/>
          </a:solidFill>
          <a:ln w="9525">
            <a:solidFill>
              <a:srgbClr val="2A3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415887" y="3502152"/>
            <a:ext cx="146304" cy="146304"/>
          </a:xfrm>
          <a:prstGeom prst="ellipse">
            <a:avLst/>
          </a:prstGeom>
          <a:solidFill>
            <a:srgbClr val="F78A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690207" y="3447288"/>
            <a:ext cx="1996363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6F7FB"/>
                </a:solidFill>
                <a:latin typeface="Calibri"/>
              </a:rPr>
              <a:t>Personalised Feed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15887" y="3886200"/>
            <a:ext cx="2179243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9299AD"/>
                </a:solidFill>
                <a:latin typeface="Calibri"/>
              </a:rPr>
              <a:t>Opportunities ranked by user skills, interests and goals.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06611" y="3246120"/>
            <a:ext cx="2636443" cy="1371600"/>
          </a:xfrm>
          <a:prstGeom prst="rect">
            <a:avLst/>
          </a:prstGeom>
          <a:solidFill>
            <a:srgbClr val="141A2B"/>
          </a:solidFill>
          <a:ln w="9525">
            <a:solidFill>
              <a:srgbClr val="2A3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9235211" y="3502152"/>
            <a:ext cx="146304" cy="146304"/>
          </a:xfrm>
          <a:prstGeom prst="ellipse">
            <a:avLst/>
          </a:prstGeom>
          <a:solidFill>
            <a:srgbClr val="F4B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509531" y="3447288"/>
            <a:ext cx="1996363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6F7FB"/>
                </a:solidFill>
                <a:latin typeface="Calibri"/>
              </a:rPr>
              <a:t>Application Flow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235211" y="3886200"/>
            <a:ext cx="2179243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9299AD"/>
                </a:solidFill>
                <a:latin typeface="Calibri"/>
              </a:rPr>
              <a:t>Multi-step Apply · Resume · Cover letter · Instant success.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48640" y="4800600"/>
            <a:ext cx="2636443" cy="1371600"/>
          </a:xfrm>
          <a:prstGeom prst="rect">
            <a:avLst/>
          </a:prstGeom>
          <a:solidFill>
            <a:srgbClr val="141A2B"/>
          </a:solidFill>
          <a:ln w="9525">
            <a:solidFill>
              <a:srgbClr val="2A3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77240" y="5056632"/>
            <a:ext cx="146304" cy="146304"/>
          </a:xfrm>
          <a:prstGeom prst="ellipse">
            <a:avLst/>
          </a:prstGeom>
          <a:solidFill>
            <a:srgbClr val="4FD4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51560" y="5001768"/>
            <a:ext cx="1996363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6F7FB"/>
                </a:solidFill>
                <a:latin typeface="Calibri"/>
              </a:rPr>
              <a:t>Applicant Pipeline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77240" y="5440680"/>
            <a:ext cx="2179243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9299AD"/>
                </a:solidFill>
                <a:latin typeface="Calibri"/>
              </a:rPr>
              <a:t>Owners review applicants, move Applied → Shortlisted → Selected.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367963" y="4800600"/>
            <a:ext cx="2636443" cy="1371600"/>
          </a:xfrm>
          <a:prstGeom prst="rect">
            <a:avLst/>
          </a:prstGeom>
          <a:solidFill>
            <a:srgbClr val="141A2B"/>
          </a:solidFill>
          <a:ln w="9525">
            <a:solidFill>
              <a:srgbClr val="2A3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3596563" y="5056632"/>
            <a:ext cx="146304" cy="146304"/>
          </a:xfrm>
          <a:prstGeom prst="ellipse">
            <a:avLst/>
          </a:prstGeom>
          <a:solidFill>
            <a:srgbClr val="9A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870883" y="5001768"/>
            <a:ext cx="1996363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6F7FB"/>
                </a:solidFill>
                <a:latin typeface="Calibri"/>
              </a:rPr>
              <a:t>Portfolio Uploads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596563" y="5440680"/>
            <a:ext cx="2179243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9299AD"/>
                </a:solidFill>
                <a:latin typeface="Calibri"/>
              </a:rPr>
              <a:t>PDF / images via Emergent Object Storage — served through API.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187287" y="4800600"/>
            <a:ext cx="2636443" cy="1371600"/>
          </a:xfrm>
          <a:prstGeom prst="rect">
            <a:avLst/>
          </a:prstGeom>
          <a:solidFill>
            <a:srgbClr val="141A2B"/>
          </a:solidFill>
          <a:ln w="9525">
            <a:solidFill>
              <a:srgbClr val="2A3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6415887" y="5056632"/>
            <a:ext cx="146304" cy="146304"/>
          </a:xfrm>
          <a:prstGeom prst="ellipse">
            <a:avLst/>
          </a:prstGeom>
          <a:solidFill>
            <a:srgbClr val="66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690207" y="5001768"/>
            <a:ext cx="1996363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6F7FB"/>
                </a:solidFill>
                <a:latin typeface="Calibri"/>
              </a:rPr>
              <a:t>Notification Bell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415887" y="5440680"/>
            <a:ext cx="2179243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9299AD"/>
                </a:solidFill>
                <a:latin typeface="Calibri"/>
              </a:rPr>
              <a:t>Live popover · Unread dot · Mark-all-read · Deep link inbox.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06611" y="4800600"/>
            <a:ext cx="2636443" cy="1371600"/>
          </a:xfrm>
          <a:prstGeom prst="rect">
            <a:avLst/>
          </a:prstGeom>
          <a:solidFill>
            <a:srgbClr val="141A2B"/>
          </a:solidFill>
          <a:ln w="9525">
            <a:solidFill>
              <a:srgbClr val="2A3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9235211" y="5056632"/>
            <a:ext cx="146304" cy="146304"/>
          </a:xfrm>
          <a:prstGeom prst="ellipse">
            <a:avLst/>
          </a:prstGeom>
          <a:solidFill>
            <a:srgbClr val="F78A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509531" y="5001768"/>
            <a:ext cx="1996363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6F7FB"/>
                </a:solidFill>
                <a:latin typeface="Calibri"/>
              </a:rPr>
              <a:t>Real Reset Email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235211" y="5440680"/>
            <a:ext cx="2179243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9299AD"/>
                </a:solidFill>
                <a:latin typeface="Calibri"/>
              </a:rPr>
              <a:t>Resend integration · Branded HTML · Sandbox-aware fallback.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8016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92024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4048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8056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12064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6072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04088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8096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32104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96112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60120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24128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88136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152144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216152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008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128016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192024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256032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320040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384048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448056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512064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576072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640080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Diamond 31"/>
          <p:cNvSpPr/>
          <p:nvPr/>
        </p:nvSpPr>
        <p:spPr>
          <a:xfrm>
            <a:off x="548640" y="411480"/>
            <a:ext cx="411480" cy="411480"/>
          </a:xfrm>
          <a:prstGeom prst="diamond">
            <a:avLst/>
          </a:prstGeom>
          <a:noFill/>
          <a:ln w="17780">
            <a:solidFill>
              <a:srgbClr val="66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64927" y="527767"/>
            <a:ext cx="178904" cy="178904"/>
          </a:xfrm>
          <a:prstGeom prst="ellipse">
            <a:avLst/>
          </a:prstGeom>
          <a:solidFill>
            <a:srgbClr val="9A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97280" y="393192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180">
                <a:solidFill>
                  <a:srgbClr val="F6F7FB"/>
                </a:solidFill>
                <a:latin typeface="Calibri"/>
              </a:rPr>
              <a:t/>
            </a:r>
            <a:r>
              <a:rPr sz="1300" b="1" spc="220">
                <a:solidFill>
                  <a:srgbClr val="F6F7FB"/>
                </a:solidFill>
                <a:latin typeface="Calibri"/>
              </a:rPr>
              <a:t>SKILL</a:t>
            </a:r>
            <a:r>
              <a:rPr sz="1300" b="1" spc="220">
                <a:solidFill>
                  <a:srgbClr val="66E4EE"/>
                </a:solidFill>
                <a:latin typeface="Calibri"/>
              </a:rPr>
              <a:t>BRIDGE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10972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180">
                <a:solidFill>
                  <a:srgbClr val="66E4EE"/>
                </a:solidFill>
                <a:latin typeface="Consolas"/>
              </a:rPr>
              <a:t>04 · THE AI MATCH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94415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spc="120">
                <a:solidFill>
                  <a:srgbClr val="9299AD"/>
                </a:solidFill>
                <a:latin typeface="Consolas"/>
              </a:rPr>
              <a:t>04 / 11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180">
                <a:solidFill>
                  <a:srgbClr val="9299AD"/>
                </a:solidFill>
                <a:latin typeface="Consolas"/>
              </a:rPr>
              <a:t>SKILLBRIDGE  ·  BRIDGE YOUR SKILLS. DISCOVER YOUR OPPORTUNITIES.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1417320"/>
            <a:ext cx="82296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200" b="1">
                <a:solidFill>
                  <a:srgbClr val="F6F7FB"/>
                </a:solidFill>
                <a:latin typeface="Calibri"/>
              </a:rPr>
              <a:t>Deterministic, explainable,</a:t>
            </a:r>
          </a:p>
          <a:p>
            <a:pPr algn="l">
              <a:lnSpc>
                <a:spcPct val="105000"/>
              </a:lnSpc>
            </a:pPr>
            <a:r>
              <a:rPr sz="4200" b="1">
                <a:solidFill>
                  <a:srgbClr val="F6F7FB"/>
                </a:solidFill>
                <a:latin typeface="Calibri"/>
              </a:rPr>
              <a:t>fast enough to feel magical.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3291840"/>
            <a:ext cx="64008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9299AD"/>
                </a:solidFill>
                <a:latin typeface="Calibri"/>
              </a:rPr>
              <a:t>Same input → same score. No black-box tricks.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9299AD"/>
                </a:solidFill>
                <a:latin typeface="Calibri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9299AD"/>
                </a:solidFill>
                <a:latin typeface="Calibri"/>
              </a:rPr>
              <a:t>•  Overlap ratio between user skills and role skills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9299AD"/>
                </a:solidFill>
                <a:latin typeface="Calibri"/>
              </a:rPr>
              <a:t>•  +10 pt bonus when 2+ skills align (signal, not luck)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9299AD"/>
                </a:solidFill>
                <a:latin typeface="Calibri"/>
              </a:rPr>
              <a:t>•  Boosts for interest + goal alignment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9299AD"/>
                </a:solidFill>
                <a:latin typeface="Calibri"/>
              </a:rPr>
              <a:t>•  Clamped 38 – 99 so no score feels fake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9299AD"/>
                </a:solidFill>
                <a:latin typeface="Calibri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9299AD"/>
                </a:solidFill>
                <a:latin typeface="Calibri"/>
              </a:rPr>
              <a:t>Every match on Home, Dashboard and Detail is computed live from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9299AD"/>
                </a:solidFill>
                <a:latin typeface="Calibri"/>
              </a:rPr>
              <a:t>the user’s profile. Edit a skill → the whole app re-personalises.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863840" y="3017520"/>
            <a:ext cx="3840480" cy="3017520"/>
          </a:xfrm>
          <a:prstGeom prst="rect">
            <a:avLst/>
          </a:prstGeom>
          <a:solidFill>
            <a:srgbClr val="141A2B"/>
          </a:solidFill>
          <a:ln w="9525">
            <a:solidFill>
              <a:srgbClr val="66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38160" y="32918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180">
                <a:solidFill>
                  <a:srgbClr val="66E4EE"/>
                </a:solidFill>
                <a:latin typeface="Consolas"/>
              </a:rPr>
              <a:t>AI SKILL MATCH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38160" y="3520440"/>
            <a:ext cx="32918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400" b="1">
                <a:solidFill>
                  <a:srgbClr val="F6F7FB"/>
                </a:solidFill>
                <a:latin typeface="Calibri"/>
              </a:rPr>
              <a:t>89%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38160" y="4709160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6F7FB"/>
                </a:solidFill>
                <a:latin typeface="Calibri"/>
              </a:rPr>
              <a:t>React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0" y="470916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6E4EE"/>
                </a:solidFill>
                <a:latin typeface="Consolas"/>
              </a:rPr>
              <a:t>94%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235440" y="4754880"/>
            <a:ext cx="1645920" cy="118872"/>
          </a:xfrm>
          <a:prstGeom prst="rect">
            <a:avLst/>
          </a:prstGeom>
          <a:solidFill>
            <a:srgbClr val="24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235440" y="4754880"/>
            <a:ext cx="1547164" cy="118872"/>
          </a:xfrm>
          <a:prstGeom prst="rect">
            <a:avLst/>
          </a:prstGeom>
          <a:solidFill>
            <a:srgbClr val="4FD4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138160" y="5001768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6F7FB"/>
                </a:solidFill>
                <a:latin typeface="Calibri"/>
              </a:rPr>
              <a:t>JavaScript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972800" y="5001768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6E4EE"/>
                </a:solidFill>
                <a:latin typeface="Consolas"/>
              </a:rPr>
              <a:t>88%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235440" y="5047488"/>
            <a:ext cx="1645920" cy="118872"/>
          </a:xfrm>
          <a:prstGeom prst="rect">
            <a:avLst/>
          </a:prstGeom>
          <a:solidFill>
            <a:srgbClr val="24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235440" y="5047488"/>
            <a:ext cx="1448409" cy="118872"/>
          </a:xfrm>
          <a:prstGeom prst="rect">
            <a:avLst/>
          </a:prstGeom>
          <a:solidFill>
            <a:srgbClr val="4FD4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138160" y="5294376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6F7FB"/>
                </a:solidFill>
                <a:latin typeface="Calibri"/>
              </a:rPr>
              <a:t>UI/UX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972800" y="5294376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6E4EE"/>
                </a:solidFill>
                <a:latin typeface="Consolas"/>
              </a:rPr>
              <a:t>76%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235440" y="5340096"/>
            <a:ext cx="1645920" cy="118872"/>
          </a:xfrm>
          <a:prstGeom prst="rect">
            <a:avLst/>
          </a:prstGeom>
          <a:solidFill>
            <a:srgbClr val="24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235440" y="5340096"/>
            <a:ext cx="1250899" cy="118872"/>
          </a:xfrm>
          <a:prstGeom prst="rect">
            <a:avLst/>
          </a:prstGeom>
          <a:solidFill>
            <a:srgbClr val="F4B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138160" y="5586984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6F7FB"/>
                </a:solidFill>
                <a:latin typeface="Calibri"/>
              </a:rPr>
              <a:t>TypeScript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972800" y="5586984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6E4EE"/>
                </a:solidFill>
                <a:latin typeface="Consolas"/>
              </a:rPr>
              <a:t>42%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235440" y="5632704"/>
            <a:ext cx="1645920" cy="118872"/>
          </a:xfrm>
          <a:prstGeom prst="rect">
            <a:avLst/>
          </a:prstGeom>
          <a:solidFill>
            <a:srgbClr val="24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235440" y="5632704"/>
            <a:ext cx="691286" cy="118872"/>
          </a:xfrm>
          <a:prstGeom prst="rect">
            <a:avLst/>
          </a:prstGeom>
          <a:solidFill>
            <a:srgbClr val="9A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8016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92024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4048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8056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12064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6072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04088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8096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32104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96112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60120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24128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88136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152144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216152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008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128016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192024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256032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320040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384048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448056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512064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576072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640080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Diamond 31"/>
          <p:cNvSpPr/>
          <p:nvPr/>
        </p:nvSpPr>
        <p:spPr>
          <a:xfrm>
            <a:off x="548640" y="411480"/>
            <a:ext cx="411480" cy="411480"/>
          </a:xfrm>
          <a:prstGeom prst="diamond">
            <a:avLst/>
          </a:prstGeom>
          <a:noFill/>
          <a:ln w="17780">
            <a:solidFill>
              <a:srgbClr val="66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64927" y="527767"/>
            <a:ext cx="178904" cy="178904"/>
          </a:xfrm>
          <a:prstGeom prst="ellipse">
            <a:avLst/>
          </a:prstGeom>
          <a:solidFill>
            <a:srgbClr val="9A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97280" y="393192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180">
                <a:solidFill>
                  <a:srgbClr val="F6F7FB"/>
                </a:solidFill>
                <a:latin typeface="Calibri"/>
              </a:rPr>
              <a:t/>
            </a:r>
            <a:r>
              <a:rPr sz="1300" b="1" spc="220">
                <a:solidFill>
                  <a:srgbClr val="F6F7FB"/>
                </a:solidFill>
                <a:latin typeface="Calibri"/>
              </a:rPr>
              <a:t>SKILL</a:t>
            </a:r>
            <a:r>
              <a:rPr sz="1300" b="1" spc="220">
                <a:solidFill>
                  <a:srgbClr val="66E4EE"/>
                </a:solidFill>
                <a:latin typeface="Calibri"/>
              </a:rPr>
              <a:t>BRIDGE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10972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180">
                <a:solidFill>
                  <a:srgbClr val="66E4EE"/>
                </a:solidFill>
                <a:latin typeface="Consolas"/>
              </a:rPr>
              <a:t>05 · THE DEMO JOURNEY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94415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spc="120">
                <a:solidFill>
                  <a:srgbClr val="9299AD"/>
                </a:solidFill>
                <a:latin typeface="Consolas"/>
              </a:rPr>
              <a:t>05 / 11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180">
                <a:solidFill>
                  <a:srgbClr val="9299AD"/>
                </a:solidFill>
                <a:latin typeface="Consolas"/>
              </a:rPr>
              <a:t>SKILLBRIDGE  ·  BRIDGE YOUR SKILLS. DISCOVER YOUR OPPORTUNITIES.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141732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F6F7FB"/>
                </a:solidFill>
                <a:latin typeface="Calibri"/>
              </a:rPr>
              <a:t>A full loop in under two minutes.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2880360"/>
            <a:ext cx="5532120" cy="3291840"/>
          </a:xfrm>
          <a:prstGeom prst="rect">
            <a:avLst/>
          </a:prstGeom>
          <a:solidFill>
            <a:srgbClr val="141A2B"/>
          </a:solidFill>
          <a:ln w="9525">
            <a:solidFill>
              <a:srgbClr val="2A3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48640" y="2880360"/>
            <a:ext cx="54864" cy="3291840"/>
          </a:xfrm>
          <a:prstGeom prst="rect">
            <a:avLst/>
          </a:prstGeom>
          <a:solidFill>
            <a:srgbClr val="9A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68680" y="3108960"/>
            <a:ext cx="5532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180">
                <a:solidFill>
                  <a:srgbClr val="9A7AFF"/>
                </a:solidFill>
                <a:latin typeface="Consolas"/>
              </a:rPr>
              <a:t>STUDENT · AARAV</a:t>
            </a:r>
          </a:p>
        </p:txBody>
      </p:sp>
      <p:sp>
        <p:nvSpPr>
          <p:cNvPr id="42" name="Oval 41"/>
          <p:cNvSpPr/>
          <p:nvPr/>
        </p:nvSpPr>
        <p:spPr>
          <a:xfrm>
            <a:off x="868680" y="3566160"/>
            <a:ext cx="292608" cy="292608"/>
          </a:xfrm>
          <a:prstGeom prst="ellipse">
            <a:avLst/>
          </a:prstGeom>
          <a:noFill/>
          <a:ln w="12700">
            <a:solidFill>
              <a:srgbClr val="9A7A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" y="3547872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9A7AFF"/>
                </a:solidFill>
                <a:latin typeface="Calibri"/>
              </a:rPr>
              <a:t>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325880" y="3593592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F6F7FB"/>
                </a:solidFill>
                <a:latin typeface="Calibri"/>
              </a:rPr>
              <a:t>Role selection · Continue as Student</a:t>
            </a:r>
          </a:p>
        </p:txBody>
      </p:sp>
      <p:sp>
        <p:nvSpPr>
          <p:cNvPr id="45" name="Oval 44"/>
          <p:cNvSpPr/>
          <p:nvPr/>
        </p:nvSpPr>
        <p:spPr>
          <a:xfrm>
            <a:off x="868680" y="4069080"/>
            <a:ext cx="292608" cy="292608"/>
          </a:xfrm>
          <a:prstGeom prst="ellipse">
            <a:avLst/>
          </a:prstGeom>
          <a:noFill/>
          <a:ln w="12700">
            <a:solidFill>
              <a:srgbClr val="9A7A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68680" y="4050792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9A7AFF"/>
                </a:solidFill>
                <a:latin typeface="Calibri"/>
              </a:rPr>
              <a:t>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325880" y="4096512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F6F7FB"/>
                </a:solidFill>
                <a:latin typeface="Calibri"/>
              </a:rPr>
              <a:t>Demo access · Onboarding (skills, interests, goal)</a:t>
            </a:r>
          </a:p>
        </p:txBody>
      </p:sp>
      <p:sp>
        <p:nvSpPr>
          <p:cNvPr id="48" name="Oval 47"/>
          <p:cNvSpPr/>
          <p:nvPr/>
        </p:nvSpPr>
        <p:spPr>
          <a:xfrm>
            <a:off x="868680" y="4572000"/>
            <a:ext cx="292608" cy="292608"/>
          </a:xfrm>
          <a:prstGeom prst="ellipse">
            <a:avLst/>
          </a:prstGeom>
          <a:noFill/>
          <a:ln w="12700">
            <a:solidFill>
              <a:srgbClr val="9A7A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68680" y="4553712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9A7AFF"/>
                </a:solidFill>
                <a:latin typeface="Calibri"/>
              </a:rPr>
              <a:t>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325880" y="4599432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F6F7FB"/>
                </a:solidFill>
                <a:latin typeface="Calibri"/>
              </a:rPr>
              <a:t>Home shows personalised match + top 3 opportunities</a:t>
            </a:r>
          </a:p>
        </p:txBody>
      </p:sp>
      <p:sp>
        <p:nvSpPr>
          <p:cNvPr id="51" name="Oval 50"/>
          <p:cNvSpPr/>
          <p:nvPr/>
        </p:nvSpPr>
        <p:spPr>
          <a:xfrm>
            <a:off x="868680" y="5074920"/>
            <a:ext cx="292608" cy="292608"/>
          </a:xfrm>
          <a:prstGeom prst="ellipse">
            <a:avLst/>
          </a:prstGeom>
          <a:noFill/>
          <a:ln w="12700">
            <a:solidFill>
              <a:srgbClr val="9A7A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68680" y="5056632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9A7AFF"/>
                </a:solidFill>
                <a:latin typeface="Calibri"/>
              </a:rPr>
              <a:t>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325880" y="5102352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F6F7FB"/>
                </a:solidFill>
                <a:latin typeface="Calibri"/>
              </a:rPr>
              <a:t>Open Frontend Dev Intern · Apply flow · Submit</a:t>
            </a:r>
          </a:p>
        </p:txBody>
      </p:sp>
      <p:sp>
        <p:nvSpPr>
          <p:cNvPr id="54" name="Oval 53"/>
          <p:cNvSpPr/>
          <p:nvPr/>
        </p:nvSpPr>
        <p:spPr>
          <a:xfrm>
            <a:off x="868680" y="5577840"/>
            <a:ext cx="292608" cy="292608"/>
          </a:xfrm>
          <a:prstGeom prst="ellipse">
            <a:avLst/>
          </a:prstGeom>
          <a:noFill/>
          <a:ln w="12700">
            <a:solidFill>
              <a:srgbClr val="9A7A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68680" y="5559552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9A7AFF"/>
                </a:solidFill>
                <a:latin typeface="Calibri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325880" y="5605272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F6F7FB"/>
                </a:solidFill>
                <a:latin typeface="Calibri"/>
              </a:rPr>
              <a:t>Application appears in My Applications instantly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263640" y="2880360"/>
            <a:ext cx="5532120" cy="3291840"/>
          </a:xfrm>
          <a:prstGeom prst="rect">
            <a:avLst/>
          </a:prstGeom>
          <a:solidFill>
            <a:srgbClr val="141A2B"/>
          </a:solidFill>
          <a:ln w="9525">
            <a:solidFill>
              <a:srgbClr val="2A3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263640" y="2880360"/>
            <a:ext cx="54864" cy="3291840"/>
          </a:xfrm>
          <a:prstGeom prst="rect">
            <a:avLst/>
          </a:prstGeom>
          <a:solidFill>
            <a:srgbClr val="66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583680" y="3108960"/>
            <a:ext cx="5532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180">
                <a:solidFill>
                  <a:srgbClr val="66E4EE"/>
                </a:solidFill>
                <a:latin typeface="Consolas"/>
              </a:rPr>
              <a:t>PROFESSIONAL · MAYA (OWNER)</a:t>
            </a:r>
          </a:p>
        </p:txBody>
      </p:sp>
      <p:sp>
        <p:nvSpPr>
          <p:cNvPr id="60" name="Oval 59"/>
          <p:cNvSpPr/>
          <p:nvPr/>
        </p:nvSpPr>
        <p:spPr>
          <a:xfrm>
            <a:off x="6583680" y="3566160"/>
            <a:ext cx="292608" cy="292608"/>
          </a:xfrm>
          <a:prstGeom prst="ellipse">
            <a:avLst/>
          </a:prstGeom>
          <a:noFill/>
          <a:ln w="12700">
            <a:solidFill>
              <a:srgbClr val="66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583680" y="3547872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66E4EE"/>
                </a:solidFill>
                <a:latin typeface="Calibri"/>
              </a:rPr>
              <a:t>1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040880" y="3593592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F6F7FB"/>
                </a:solidFill>
                <a:latin typeface="Calibri"/>
              </a:rPr>
              <a:t>Enter demo as Skilled Professional</a:t>
            </a:r>
          </a:p>
        </p:txBody>
      </p:sp>
      <p:sp>
        <p:nvSpPr>
          <p:cNvPr id="63" name="Oval 62"/>
          <p:cNvSpPr/>
          <p:nvPr/>
        </p:nvSpPr>
        <p:spPr>
          <a:xfrm>
            <a:off x="6583680" y="4069080"/>
            <a:ext cx="292608" cy="292608"/>
          </a:xfrm>
          <a:prstGeom prst="ellipse">
            <a:avLst/>
          </a:prstGeom>
          <a:noFill/>
          <a:ln w="12700">
            <a:solidFill>
              <a:srgbClr val="66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583680" y="4050792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66E4EE"/>
                </a:solidFill>
                <a:latin typeface="Calibri"/>
              </a:rPr>
              <a:t>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040880" y="4096512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F6F7FB"/>
                </a:solidFill>
                <a:latin typeface="Calibri"/>
              </a:rPr>
              <a:t>Tune profile · Upload portfolio PDF to storage</a:t>
            </a:r>
          </a:p>
        </p:txBody>
      </p:sp>
      <p:sp>
        <p:nvSpPr>
          <p:cNvPr id="66" name="Oval 65"/>
          <p:cNvSpPr/>
          <p:nvPr/>
        </p:nvSpPr>
        <p:spPr>
          <a:xfrm>
            <a:off x="6583680" y="4572000"/>
            <a:ext cx="292608" cy="292608"/>
          </a:xfrm>
          <a:prstGeom prst="ellipse">
            <a:avLst/>
          </a:prstGeom>
          <a:noFill/>
          <a:ln w="12700">
            <a:solidFill>
              <a:srgbClr val="66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583680" y="4553712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66E4EE"/>
                </a:solidFill>
                <a:latin typeface="Calibri"/>
              </a:rPr>
              <a:t>3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040880" y="4599432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F6F7FB"/>
                </a:solidFill>
                <a:latin typeface="Calibri"/>
              </a:rPr>
              <a:t>Workspace shows 7 owned opportunities with counts</a:t>
            </a:r>
          </a:p>
        </p:txBody>
      </p:sp>
      <p:sp>
        <p:nvSpPr>
          <p:cNvPr id="69" name="Oval 68"/>
          <p:cNvSpPr/>
          <p:nvPr/>
        </p:nvSpPr>
        <p:spPr>
          <a:xfrm>
            <a:off x="6583680" y="5074920"/>
            <a:ext cx="292608" cy="292608"/>
          </a:xfrm>
          <a:prstGeom prst="ellipse">
            <a:avLst/>
          </a:prstGeom>
          <a:noFill/>
          <a:ln w="12700">
            <a:solidFill>
              <a:srgbClr val="66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583680" y="5056632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66E4EE"/>
                </a:solidFill>
                <a:latin typeface="Calibri"/>
              </a:rPr>
              <a:t>4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040880" y="5102352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F6F7FB"/>
                </a:solidFill>
                <a:latin typeface="Calibri"/>
              </a:rPr>
              <a:t>Review Applicants · See Aarav ranked by match score</a:t>
            </a:r>
          </a:p>
        </p:txBody>
      </p:sp>
      <p:sp>
        <p:nvSpPr>
          <p:cNvPr id="72" name="Oval 71"/>
          <p:cNvSpPr/>
          <p:nvPr/>
        </p:nvSpPr>
        <p:spPr>
          <a:xfrm>
            <a:off x="6583680" y="5577840"/>
            <a:ext cx="292608" cy="292608"/>
          </a:xfrm>
          <a:prstGeom prst="ellipse">
            <a:avLst/>
          </a:prstGeom>
          <a:noFill/>
          <a:ln w="12700">
            <a:solidFill>
              <a:srgbClr val="66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583680" y="5559552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66E4EE"/>
                </a:solidFill>
                <a:latin typeface="Calibri"/>
              </a:rPr>
              <a:t>5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040880" y="5605272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F6F7FB"/>
                </a:solidFill>
                <a:latin typeface="Calibri"/>
              </a:rPr>
              <a:t>Move to Shortlisted → Aarav gets a live notification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8016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92024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4048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8056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12064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6072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04088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8096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32104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96112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60120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24128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88136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152144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216152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008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128016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192024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256032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320040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384048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448056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512064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576072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640080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Diamond 31"/>
          <p:cNvSpPr/>
          <p:nvPr/>
        </p:nvSpPr>
        <p:spPr>
          <a:xfrm>
            <a:off x="548640" y="411480"/>
            <a:ext cx="411480" cy="411480"/>
          </a:xfrm>
          <a:prstGeom prst="diamond">
            <a:avLst/>
          </a:prstGeom>
          <a:noFill/>
          <a:ln w="17780">
            <a:solidFill>
              <a:srgbClr val="66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64927" y="527767"/>
            <a:ext cx="178904" cy="178904"/>
          </a:xfrm>
          <a:prstGeom prst="ellipse">
            <a:avLst/>
          </a:prstGeom>
          <a:solidFill>
            <a:srgbClr val="9A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97280" y="393192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180">
                <a:solidFill>
                  <a:srgbClr val="F6F7FB"/>
                </a:solidFill>
                <a:latin typeface="Calibri"/>
              </a:rPr>
              <a:t/>
            </a:r>
            <a:r>
              <a:rPr sz="1300" b="1" spc="220">
                <a:solidFill>
                  <a:srgbClr val="F6F7FB"/>
                </a:solidFill>
                <a:latin typeface="Calibri"/>
              </a:rPr>
              <a:t>SKILL</a:t>
            </a:r>
            <a:r>
              <a:rPr sz="1300" b="1" spc="220">
                <a:solidFill>
                  <a:srgbClr val="66E4EE"/>
                </a:solidFill>
                <a:latin typeface="Calibri"/>
              </a:rPr>
              <a:t>BRIDGE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10972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180">
                <a:solidFill>
                  <a:srgbClr val="66E4EE"/>
                </a:solidFill>
                <a:latin typeface="Consolas"/>
              </a:rPr>
              <a:t>06 · ARCHITECTURE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94415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spc="120">
                <a:solidFill>
                  <a:srgbClr val="9299AD"/>
                </a:solidFill>
                <a:latin typeface="Consolas"/>
              </a:rPr>
              <a:t>06 / 11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180">
                <a:solidFill>
                  <a:srgbClr val="9299AD"/>
                </a:solidFill>
                <a:latin typeface="Consolas"/>
              </a:rPr>
              <a:t>SKILLBRIDGE  ·  BRIDGE YOUR SKILLS. DISCOVER YOUR OPPORTUNITIES.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141732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F6F7FB"/>
                </a:solidFill>
                <a:latin typeface="Calibri"/>
              </a:rPr>
              <a:t>Small stack. Big product.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2880360"/>
            <a:ext cx="3703320" cy="2834640"/>
          </a:xfrm>
          <a:prstGeom prst="rect">
            <a:avLst/>
          </a:prstGeom>
          <a:solidFill>
            <a:srgbClr val="141A2B"/>
          </a:solidFill>
          <a:ln w="9525">
            <a:solidFill>
              <a:srgbClr val="2A3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2960" y="3154680"/>
            <a:ext cx="3703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180">
                <a:solidFill>
                  <a:srgbClr val="9A7AFF"/>
                </a:solidFill>
                <a:latin typeface="Consolas"/>
              </a:rPr>
              <a:t>FRONTEND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" y="3520440"/>
            <a:ext cx="315468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50" b="0">
                <a:solidFill>
                  <a:srgbClr val="9299AD"/>
                </a:solidFill>
                <a:latin typeface="Calibri"/>
              </a:rPr>
              <a:t>React 19 + React Router</a:t>
            </a:r>
          </a:p>
          <a:p>
            <a:pPr algn="l">
              <a:lnSpc>
                <a:spcPct val="150000"/>
              </a:lnSpc>
            </a:pPr>
            <a:r>
              <a:rPr sz="1250" b="0">
                <a:solidFill>
                  <a:srgbClr val="9299AD"/>
                </a:solidFill>
                <a:latin typeface="Calibri"/>
              </a:rPr>
              <a:t>Context-driven dynamic data</a:t>
            </a:r>
          </a:p>
          <a:p>
            <a:pPr algn="l">
              <a:lnSpc>
                <a:spcPct val="150000"/>
              </a:lnSpc>
            </a:pPr>
            <a:r>
              <a:rPr sz="1250" b="0">
                <a:solidFill>
                  <a:srgbClr val="9299AD"/>
                </a:solidFill>
                <a:latin typeface="Calibri"/>
              </a:rPr>
              <a:t>Deterministic match (mirror)</a:t>
            </a:r>
          </a:p>
          <a:p>
            <a:pPr algn="l">
              <a:lnSpc>
                <a:spcPct val="150000"/>
              </a:lnSpc>
            </a:pPr>
            <a:r>
              <a:rPr sz="1250" b="0">
                <a:solidFill>
                  <a:srgbClr val="9299AD"/>
                </a:solidFill>
                <a:latin typeface="Calibri"/>
              </a:rPr>
              <a:t>Skeletons + empty states</a:t>
            </a:r>
          </a:p>
          <a:p>
            <a:pPr algn="l">
              <a:lnSpc>
                <a:spcPct val="150000"/>
              </a:lnSpc>
            </a:pPr>
            <a:r>
              <a:rPr sz="1250" b="0">
                <a:solidFill>
                  <a:srgbClr val="9299AD"/>
                </a:solidFill>
                <a:latin typeface="Calibri"/>
              </a:rPr>
              <a:t>Tailwind-free custom CSS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389120" y="2880360"/>
            <a:ext cx="3703320" cy="2834640"/>
          </a:xfrm>
          <a:prstGeom prst="rect">
            <a:avLst/>
          </a:prstGeom>
          <a:solidFill>
            <a:srgbClr val="141A2B"/>
          </a:solidFill>
          <a:ln w="9525">
            <a:solidFill>
              <a:srgbClr val="2A3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663440" y="3154680"/>
            <a:ext cx="3703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180">
                <a:solidFill>
                  <a:srgbClr val="66E4EE"/>
                </a:solidFill>
                <a:latin typeface="Consolas"/>
              </a:rPr>
              <a:t>BACKEND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63440" y="3520440"/>
            <a:ext cx="315468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50" b="0">
                <a:solidFill>
                  <a:srgbClr val="9299AD"/>
                </a:solidFill>
                <a:latin typeface="Calibri"/>
              </a:rPr>
              <a:t>FastAPI + Motor (async)</a:t>
            </a:r>
          </a:p>
          <a:p>
            <a:pPr algn="l">
              <a:lnSpc>
                <a:spcPct val="150000"/>
              </a:lnSpc>
            </a:pPr>
            <a:r>
              <a:rPr sz="1250" b="0">
                <a:solidFill>
                  <a:srgbClr val="9299AD"/>
                </a:solidFill>
                <a:latin typeface="Calibri"/>
              </a:rPr>
              <a:t>MongoDB collections:</a:t>
            </a:r>
          </a:p>
          <a:p>
            <a:pPr algn="l">
              <a:lnSpc>
                <a:spcPct val="150000"/>
              </a:lnSpc>
            </a:pPr>
            <a:r>
              <a:rPr sz="1250" b="0">
                <a:solidFill>
                  <a:srgbClr val="9299AD"/>
                </a:solidFill>
                <a:latin typeface="Calibri"/>
              </a:rPr>
              <a:t> · users · opportunities</a:t>
            </a:r>
          </a:p>
          <a:p>
            <a:pPr algn="l">
              <a:lnSpc>
                <a:spcPct val="150000"/>
              </a:lnSpc>
            </a:pPr>
            <a:r>
              <a:rPr sz="1250" b="0">
                <a:solidFill>
                  <a:srgbClr val="9299AD"/>
                </a:solidFill>
                <a:latin typeface="Calibri"/>
              </a:rPr>
              <a:t> · applications · saved</a:t>
            </a:r>
          </a:p>
          <a:p>
            <a:pPr algn="l">
              <a:lnSpc>
                <a:spcPct val="150000"/>
              </a:lnSpc>
            </a:pPr>
            <a:r>
              <a:rPr sz="1250" b="0">
                <a:solidFill>
                  <a:srgbClr val="9299AD"/>
                </a:solidFill>
                <a:latin typeface="Calibri"/>
              </a:rPr>
              <a:t> · notifications · portfolio</a:t>
            </a:r>
          </a:p>
          <a:p>
            <a:pPr algn="l">
              <a:lnSpc>
                <a:spcPct val="150000"/>
              </a:lnSpc>
            </a:pPr>
            <a:r>
              <a:rPr sz="1250" b="0">
                <a:solidFill>
                  <a:srgbClr val="9299AD"/>
                </a:solidFill>
                <a:latin typeface="Calibri"/>
              </a:rPr>
              <a:t>Seeded opportunities on startup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229600" y="2880360"/>
            <a:ext cx="3703320" cy="2834640"/>
          </a:xfrm>
          <a:prstGeom prst="rect">
            <a:avLst/>
          </a:prstGeom>
          <a:solidFill>
            <a:srgbClr val="141A2B"/>
          </a:solidFill>
          <a:ln w="9525">
            <a:solidFill>
              <a:srgbClr val="2A3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503920" y="3154680"/>
            <a:ext cx="3703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180">
                <a:solidFill>
                  <a:srgbClr val="F78AD5"/>
                </a:solidFill>
                <a:latin typeface="Consolas"/>
              </a:rPr>
              <a:t>INTEGRATIONS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03920" y="3520440"/>
            <a:ext cx="315468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50" b="0">
                <a:solidFill>
                  <a:srgbClr val="9299AD"/>
                </a:solidFill>
                <a:latin typeface="Calibri"/>
              </a:rPr>
              <a:t>Resend — real reset email</a:t>
            </a:r>
          </a:p>
          <a:p>
            <a:pPr algn="l">
              <a:lnSpc>
                <a:spcPct val="150000"/>
              </a:lnSpc>
            </a:pPr>
            <a:r>
              <a:rPr sz="1250" b="0">
                <a:solidFill>
                  <a:srgbClr val="9299AD"/>
                </a:solidFill>
                <a:latin typeface="Calibri"/>
              </a:rPr>
              <a:t>Emergent Object Storage —</a:t>
            </a:r>
          </a:p>
          <a:p>
            <a:pPr algn="l">
              <a:lnSpc>
                <a:spcPct val="150000"/>
              </a:lnSpc>
            </a:pPr>
            <a:r>
              <a:rPr sz="1250" b="0">
                <a:solidFill>
                  <a:srgbClr val="9299AD"/>
                </a:solidFill>
                <a:latin typeface="Calibri"/>
              </a:rPr>
              <a:t>   portfolio uploads (PDF / img)</a:t>
            </a:r>
          </a:p>
          <a:p>
            <a:pPr algn="l">
              <a:lnSpc>
                <a:spcPct val="150000"/>
              </a:lnSpc>
            </a:pPr>
            <a:r>
              <a:rPr sz="1250" b="0">
                <a:solidFill>
                  <a:srgbClr val="9299AD"/>
                </a:solidFill>
                <a:latin typeface="Calibri"/>
              </a:rPr>
              <a:t>Pydantic v2 payload models</a:t>
            </a:r>
          </a:p>
          <a:p>
            <a:pPr algn="l">
              <a:lnSpc>
                <a:spcPct val="150000"/>
              </a:lnSpc>
            </a:pPr>
            <a:r>
              <a:rPr sz="1250" b="0">
                <a:solidFill>
                  <a:srgbClr val="9299AD"/>
                </a:solidFill>
                <a:latin typeface="Calibri"/>
              </a:rPr>
              <a:t>CORS + supervisor-managed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8640" y="5852160"/>
            <a:ext cx="2761488" cy="457200"/>
          </a:xfrm>
          <a:prstGeom prst="rect">
            <a:avLst/>
          </a:prstGeom>
          <a:solidFill>
            <a:srgbClr val="0E1220"/>
          </a:solidFill>
          <a:ln w="9525">
            <a:solidFill>
              <a:srgbClr val="2A3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31520" y="5934456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66E4EE"/>
                </a:solidFill>
                <a:latin typeface="Calibri"/>
              </a:rPr>
              <a:t>18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417320" y="5989320"/>
            <a:ext cx="18013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140">
                <a:solidFill>
                  <a:srgbClr val="9299AD"/>
                </a:solidFill>
                <a:latin typeface="Consolas"/>
              </a:rPr>
              <a:t>Pytest cases pass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419856" y="5852160"/>
            <a:ext cx="2761488" cy="457200"/>
          </a:xfrm>
          <a:prstGeom prst="rect">
            <a:avLst/>
          </a:prstGeom>
          <a:solidFill>
            <a:srgbClr val="0E1220"/>
          </a:solidFill>
          <a:ln w="9525">
            <a:solidFill>
              <a:srgbClr val="2A3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602736" y="5934456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66E4EE"/>
                </a:solidFill>
                <a:latin typeface="Calibri"/>
              </a:rPr>
              <a:t>10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288536" y="5989320"/>
            <a:ext cx="18013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140">
                <a:solidFill>
                  <a:srgbClr val="9299AD"/>
                </a:solidFill>
                <a:latin typeface="Consolas"/>
              </a:rPr>
              <a:t>Seeded opportunities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291072" y="5852160"/>
            <a:ext cx="2761488" cy="457200"/>
          </a:xfrm>
          <a:prstGeom prst="rect">
            <a:avLst/>
          </a:prstGeom>
          <a:solidFill>
            <a:srgbClr val="0E1220"/>
          </a:solidFill>
          <a:ln w="9525">
            <a:solidFill>
              <a:srgbClr val="2A3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73952" y="5934456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66E4EE"/>
                </a:solidFill>
                <a:latin typeface="Calibri"/>
              </a:rPr>
              <a:t>6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159752" y="5989320"/>
            <a:ext cx="18013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140">
                <a:solidFill>
                  <a:srgbClr val="9299AD"/>
                </a:solidFill>
                <a:latin typeface="Consolas"/>
              </a:rPr>
              <a:t>Application statuses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162288" y="5852160"/>
            <a:ext cx="2761488" cy="457200"/>
          </a:xfrm>
          <a:prstGeom prst="rect">
            <a:avLst/>
          </a:prstGeom>
          <a:solidFill>
            <a:srgbClr val="0E1220"/>
          </a:solidFill>
          <a:ln w="9525">
            <a:solidFill>
              <a:srgbClr val="2A3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345168" y="5934456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66E4EE"/>
                </a:solidFill>
                <a:latin typeface="Calibri"/>
              </a:rPr>
              <a:t>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030968" y="5989320"/>
            <a:ext cx="18013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140">
                <a:solidFill>
                  <a:srgbClr val="9299AD"/>
                </a:solidFill>
                <a:latin typeface="Consolas"/>
              </a:rPr>
              <a:t>Console errors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8016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92024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4048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8056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12064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6072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04088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8096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32104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96112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60120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24128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88136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152144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216152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008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128016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192024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256032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320040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384048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448056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512064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576072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640080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Diamond 31"/>
          <p:cNvSpPr/>
          <p:nvPr/>
        </p:nvSpPr>
        <p:spPr>
          <a:xfrm>
            <a:off x="548640" y="411480"/>
            <a:ext cx="411480" cy="411480"/>
          </a:xfrm>
          <a:prstGeom prst="diamond">
            <a:avLst/>
          </a:prstGeom>
          <a:noFill/>
          <a:ln w="17780">
            <a:solidFill>
              <a:srgbClr val="66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64927" y="527767"/>
            <a:ext cx="178904" cy="178904"/>
          </a:xfrm>
          <a:prstGeom prst="ellipse">
            <a:avLst/>
          </a:prstGeom>
          <a:solidFill>
            <a:srgbClr val="9A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97280" y="393192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180">
                <a:solidFill>
                  <a:srgbClr val="F6F7FB"/>
                </a:solidFill>
                <a:latin typeface="Calibri"/>
              </a:rPr>
              <a:t/>
            </a:r>
            <a:r>
              <a:rPr sz="1300" b="1" spc="220">
                <a:solidFill>
                  <a:srgbClr val="F6F7FB"/>
                </a:solidFill>
                <a:latin typeface="Calibri"/>
              </a:rPr>
              <a:t>SKILL</a:t>
            </a:r>
            <a:r>
              <a:rPr sz="1300" b="1" spc="220">
                <a:solidFill>
                  <a:srgbClr val="66E4EE"/>
                </a:solidFill>
                <a:latin typeface="Calibri"/>
              </a:rPr>
              <a:t>BRIDGE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10972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180">
                <a:solidFill>
                  <a:srgbClr val="66E4EE"/>
                </a:solidFill>
                <a:latin typeface="Consolas"/>
              </a:rPr>
              <a:t>07 · THE PRODUCT · SCREENS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94415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spc="120">
                <a:solidFill>
                  <a:srgbClr val="9299AD"/>
                </a:solidFill>
                <a:latin typeface="Consolas"/>
              </a:rPr>
              <a:t>07 / 11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180">
                <a:solidFill>
                  <a:srgbClr val="9299AD"/>
                </a:solidFill>
                <a:latin typeface="Consolas"/>
              </a:rPr>
              <a:t>SKILLBRIDGE  ·  BRIDGE YOUR SKILLS. DISCOVER YOUR OPPORTUNITIES.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141732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F6F7FB"/>
                </a:solidFill>
                <a:latin typeface="Calibri"/>
              </a:rPr>
              <a:t>Real, working, live.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2880360"/>
            <a:ext cx="2670733" cy="3200400"/>
          </a:xfrm>
          <a:prstGeom prst="rect">
            <a:avLst/>
          </a:prstGeom>
          <a:solidFill>
            <a:srgbClr val="141A2B"/>
          </a:solidFill>
          <a:ln w="9525">
            <a:solidFill>
              <a:srgbClr val="2A3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31520" y="3108960"/>
            <a:ext cx="2304973" cy="365760"/>
          </a:xfrm>
          <a:prstGeom prst="rect">
            <a:avLst/>
          </a:prstGeom>
          <a:solidFill>
            <a:srgbClr val="0E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31520" y="3611880"/>
            <a:ext cx="2304973" cy="1280160"/>
          </a:xfrm>
          <a:prstGeom prst="rect">
            <a:avLst/>
          </a:prstGeom>
          <a:solidFill>
            <a:srgbClr val="0E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77240" y="3749040"/>
            <a:ext cx="221353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9A7AFF"/>
                </a:solidFill>
                <a:latin typeface="Calibri"/>
              </a:rPr>
              <a:t>HOME · MATCH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68680" y="4251960"/>
            <a:ext cx="2030653" cy="82296"/>
          </a:xfrm>
          <a:prstGeom prst="rect">
            <a:avLst/>
          </a:prstGeom>
          <a:solidFill>
            <a:srgbClr val="24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68680" y="4251960"/>
            <a:ext cx="1827588" cy="82296"/>
          </a:xfrm>
          <a:prstGeom prst="rect">
            <a:avLst/>
          </a:prstGeom>
          <a:solidFill>
            <a:srgbClr val="9A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68680" y="4453128"/>
            <a:ext cx="2030653" cy="82296"/>
          </a:xfrm>
          <a:prstGeom prst="rect">
            <a:avLst/>
          </a:prstGeom>
          <a:solidFill>
            <a:srgbClr val="24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68680" y="4453128"/>
            <a:ext cx="1522990" cy="82296"/>
          </a:xfrm>
          <a:prstGeom prst="rect">
            <a:avLst/>
          </a:prstGeom>
          <a:solidFill>
            <a:srgbClr val="9A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68680" y="4654296"/>
            <a:ext cx="2030653" cy="82296"/>
          </a:xfrm>
          <a:prstGeom prst="rect">
            <a:avLst/>
          </a:prstGeom>
          <a:solidFill>
            <a:srgbClr val="24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68680" y="4654296"/>
            <a:ext cx="1218392" cy="82296"/>
          </a:xfrm>
          <a:prstGeom prst="rect">
            <a:avLst/>
          </a:prstGeom>
          <a:solidFill>
            <a:srgbClr val="9A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77240" y="5074920"/>
            <a:ext cx="2213533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9299AD"/>
                </a:solidFill>
                <a:latin typeface="Calibri"/>
              </a:rPr>
              <a:t>Dynamic score · strongest skill · next skill</a:t>
            </a:r>
          </a:p>
          <a:p>
            <a:pPr algn="l">
              <a:lnSpc>
                <a:spcPct val="145000"/>
              </a:lnSpc>
            </a:pPr>
            <a:r>
              <a:rPr sz="1100" b="0">
                <a:solidFill>
                  <a:srgbClr val="9299AD"/>
                </a:solidFill>
                <a:latin typeface="Calibri"/>
              </a:rPr>
              <a:t>Personalised top 3 opportunities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356533" y="2880360"/>
            <a:ext cx="2670733" cy="3200400"/>
          </a:xfrm>
          <a:prstGeom prst="rect">
            <a:avLst/>
          </a:prstGeom>
          <a:solidFill>
            <a:srgbClr val="141A2B"/>
          </a:solidFill>
          <a:ln w="9525">
            <a:solidFill>
              <a:srgbClr val="2A3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539413" y="3108960"/>
            <a:ext cx="2304973" cy="365760"/>
          </a:xfrm>
          <a:prstGeom prst="rect">
            <a:avLst/>
          </a:prstGeom>
          <a:solidFill>
            <a:srgbClr val="0E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539413" y="3611880"/>
            <a:ext cx="2304973" cy="1280160"/>
          </a:xfrm>
          <a:prstGeom prst="rect">
            <a:avLst/>
          </a:prstGeom>
          <a:solidFill>
            <a:srgbClr val="0E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585133" y="3749040"/>
            <a:ext cx="221353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66E4EE"/>
                </a:solidFill>
                <a:latin typeface="Calibri"/>
              </a:rPr>
              <a:t>APPLY FLOW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76573" y="4251960"/>
            <a:ext cx="2030653" cy="82296"/>
          </a:xfrm>
          <a:prstGeom prst="rect">
            <a:avLst/>
          </a:prstGeom>
          <a:solidFill>
            <a:srgbClr val="24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676573" y="4251960"/>
            <a:ext cx="1827588" cy="82296"/>
          </a:xfrm>
          <a:prstGeom prst="rect">
            <a:avLst/>
          </a:prstGeom>
          <a:solidFill>
            <a:srgbClr val="66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3676573" y="4453128"/>
            <a:ext cx="2030653" cy="82296"/>
          </a:xfrm>
          <a:prstGeom prst="rect">
            <a:avLst/>
          </a:prstGeom>
          <a:solidFill>
            <a:srgbClr val="24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3676573" y="4453128"/>
            <a:ext cx="1522990" cy="82296"/>
          </a:xfrm>
          <a:prstGeom prst="rect">
            <a:avLst/>
          </a:prstGeom>
          <a:solidFill>
            <a:srgbClr val="66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3676573" y="4654296"/>
            <a:ext cx="2030653" cy="82296"/>
          </a:xfrm>
          <a:prstGeom prst="rect">
            <a:avLst/>
          </a:prstGeom>
          <a:solidFill>
            <a:srgbClr val="24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676573" y="4654296"/>
            <a:ext cx="1218392" cy="82296"/>
          </a:xfrm>
          <a:prstGeom prst="rect">
            <a:avLst/>
          </a:prstGeom>
          <a:solidFill>
            <a:srgbClr val="66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585133" y="5074920"/>
            <a:ext cx="2213533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9299AD"/>
                </a:solidFill>
                <a:latin typeface="Calibri"/>
              </a:rPr>
              <a:t>4 steps · resume upload · cover letter</a:t>
            </a:r>
          </a:p>
          <a:p>
            <a:pPr algn="l">
              <a:lnSpc>
                <a:spcPct val="145000"/>
              </a:lnSpc>
            </a:pPr>
            <a:r>
              <a:rPr sz="1100" b="0">
                <a:solidFill>
                  <a:srgbClr val="9299AD"/>
                </a:solidFill>
                <a:latin typeface="Calibri"/>
              </a:rPr>
              <a:t>Success screen · applications updates live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164427" y="2880360"/>
            <a:ext cx="2670733" cy="3200400"/>
          </a:xfrm>
          <a:prstGeom prst="rect">
            <a:avLst/>
          </a:prstGeom>
          <a:solidFill>
            <a:srgbClr val="141A2B"/>
          </a:solidFill>
          <a:ln w="9525">
            <a:solidFill>
              <a:srgbClr val="2A3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347307" y="3108960"/>
            <a:ext cx="2304973" cy="365760"/>
          </a:xfrm>
          <a:prstGeom prst="rect">
            <a:avLst/>
          </a:prstGeom>
          <a:solidFill>
            <a:srgbClr val="0E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347307" y="3611880"/>
            <a:ext cx="2304973" cy="1280160"/>
          </a:xfrm>
          <a:prstGeom prst="rect">
            <a:avLst/>
          </a:prstGeom>
          <a:solidFill>
            <a:srgbClr val="0E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393027" y="3749040"/>
            <a:ext cx="221353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78AD5"/>
                </a:solidFill>
                <a:latin typeface="Calibri"/>
              </a:rPr>
              <a:t>APPLICANT PIPELINE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484467" y="4251960"/>
            <a:ext cx="2030653" cy="82296"/>
          </a:xfrm>
          <a:prstGeom prst="rect">
            <a:avLst/>
          </a:prstGeom>
          <a:solidFill>
            <a:srgbClr val="24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484467" y="4251960"/>
            <a:ext cx="1827588" cy="82296"/>
          </a:xfrm>
          <a:prstGeom prst="rect">
            <a:avLst/>
          </a:prstGeom>
          <a:solidFill>
            <a:srgbClr val="F78A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484467" y="4453128"/>
            <a:ext cx="2030653" cy="82296"/>
          </a:xfrm>
          <a:prstGeom prst="rect">
            <a:avLst/>
          </a:prstGeom>
          <a:solidFill>
            <a:srgbClr val="24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484467" y="4453128"/>
            <a:ext cx="1522990" cy="82296"/>
          </a:xfrm>
          <a:prstGeom prst="rect">
            <a:avLst/>
          </a:prstGeom>
          <a:solidFill>
            <a:srgbClr val="F78A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484467" y="4654296"/>
            <a:ext cx="2030653" cy="82296"/>
          </a:xfrm>
          <a:prstGeom prst="rect">
            <a:avLst/>
          </a:prstGeom>
          <a:solidFill>
            <a:srgbClr val="24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484467" y="4654296"/>
            <a:ext cx="1218392" cy="82296"/>
          </a:xfrm>
          <a:prstGeom prst="rect">
            <a:avLst/>
          </a:prstGeom>
          <a:solidFill>
            <a:srgbClr val="F78A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393027" y="5074920"/>
            <a:ext cx="2213533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9299AD"/>
                </a:solidFill>
                <a:latin typeface="Calibri"/>
              </a:rPr>
              <a:t>Ranked by match · portfolio link</a:t>
            </a:r>
          </a:p>
          <a:p>
            <a:pPr algn="l">
              <a:lnSpc>
                <a:spcPct val="145000"/>
              </a:lnSpc>
            </a:pPr>
            <a:r>
              <a:rPr sz="1100" b="0">
                <a:solidFill>
                  <a:srgbClr val="9299AD"/>
                </a:solidFill>
                <a:latin typeface="Calibri"/>
              </a:rPr>
              <a:t>Status buttons write to DB + notify user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972321" y="2880360"/>
            <a:ext cx="2670733" cy="3200400"/>
          </a:xfrm>
          <a:prstGeom prst="rect">
            <a:avLst/>
          </a:prstGeom>
          <a:solidFill>
            <a:srgbClr val="141A2B"/>
          </a:solidFill>
          <a:ln w="9525">
            <a:solidFill>
              <a:srgbClr val="2A3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9155201" y="3108960"/>
            <a:ext cx="2304973" cy="365760"/>
          </a:xfrm>
          <a:prstGeom prst="rect">
            <a:avLst/>
          </a:prstGeom>
          <a:solidFill>
            <a:srgbClr val="0E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9155201" y="3611880"/>
            <a:ext cx="2304973" cy="1280160"/>
          </a:xfrm>
          <a:prstGeom prst="rect">
            <a:avLst/>
          </a:prstGeom>
          <a:solidFill>
            <a:srgbClr val="0E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200921" y="3749040"/>
            <a:ext cx="221353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4BC6B"/>
                </a:solidFill>
                <a:latin typeface="Calibri"/>
              </a:rPr>
              <a:t>NOTIFICATION BELL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292361" y="4251960"/>
            <a:ext cx="2030653" cy="82296"/>
          </a:xfrm>
          <a:prstGeom prst="rect">
            <a:avLst/>
          </a:prstGeom>
          <a:solidFill>
            <a:srgbClr val="24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9292361" y="4251960"/>
            <a:ext cx="1827588" cy="82296"/>
          </a:xfrm>
          <a:prstGeom prst="rect">
            <a:avLst/>
          </a:prstGeom>
          <a:solidFill>
            <a:srgbClr val="F4B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9292361" y="4453128"/>
            <a:ext cx="2030653" cy="82296"/>
          </a:xfrm>
          <a:prstGeom prst="rect">
            <a:avLst/>
          </a:prstGeom>
          <a:solidFill>
            <a:srgbClr val="24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9292361" y="4453128"/>
            <a:ext cx="1522990" cy="82296"/>
          </a:xfrm>
          <a:prstGeom prst="rect">
            <a:avLst/>
          </a:prstGeom>
          <a:solidFill>
            <a:srgbClr val="F4B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9292361" y="4654296"/>
            <a:ext cx="2030653" cy="82296"/>
          </a:xfrm>
          <a:prstGeom prst="rect">
            <a:avLst/>
          </a:prstGeom>
          <a:solidFill>
            <a:srgbClr val="24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9292361" y="4654296"/>
            <a:ext cx="1218392" cy="82296"/>
          </a:xfrm>
          <a:prstGeom prst="rect">
            <a:avLst/>
          </a:prstGeom>
          <a:solidFill>
            <a:srgbClr val="F4B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9200921" y="5074920"/>
            <a:ext cx="2213533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9299AD"/>
                </a:solidFill>
                <a:latin typeface="Calibri"/>
              </a:rPr>
              <a:t>Popover · unread dot · mark-all-read</a:t>
            </a:r>
          </a:p>
          <a:p>
            <a:pPr algn="l">
              <a:lnSpc>
                <a:spcPct val="145000"/>
              </a:lnSpc>
            </a:pPr>
            <a:r>
              <a:rPr sz="1100" b="0">
                <a:solidFill>
                  <a:srgbClr val="9299AD"/>
                </a:solidFill>
                <a:latin typeface="Calibri"/>
              </a:rPr>
              <a:t>Status changes appear in real time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8016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92024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4048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8056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12064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6072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04088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8096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32104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96112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60120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24128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88136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152144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216152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008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128016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192024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256032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320040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384048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448056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512064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576072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640080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Diamond 31"/>
          <p:cNvSpPr/>
          <p:nvPr/>
        </p:nvSpPr>
        <p:spPr>
          <a:xfrm>
            <a:off x="548640" y="411480"/>
            <a:ext cx="411480" cy="411480"/>
          </a:xfrm>
          <a:prstGeom prst="diamond">
            <a:avLst/>
          </a:prstGeom>
          <a:noFill/>
          <a:ln w="17780">
            <a:solidFill>
              <a:srgbClr val="66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64927" y="527767"/>
            <a:ext cx="178904" cy="178904"/>
          </a:xfrm>
          <a:prstGeom prst="ellipse">
            <a:avLst/>
          </a:prstGeom>
          <a:solidFill>
            <a:srgbClr val="9A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97280" y="393192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180">
                <a:solidFill>
                  <a:srgbClr val="F6F7FB"/>
                </a:solidFill>
                <a:latin typeface="Calibri"/>
              </a:rPr>
              <a:t/>
            </a:r>
            <a:r>
              <a:rPr sz="1300" b="1" spc="220">
                <a:solidFill>
                  <a:srgbClr val="F6F7FB"/>
                </a:solidFill>
                <a:latin typeface="Calibri"/>
              </a:rPr>
              <a:t>SKILL</a:t>
            </a:r>
            <a:r>
              <a:rPr sz="1300" b="1" spc="220">
                <a:solidFill>
                  <a:srgbClr val="66E4EE"/>
                </a:solidFill>
                <a:latin typeface="Calibri"/>
              </a:rPr>
              <a:t>BRIDGE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10972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180">
                <a:solidFill>
                  <a:srgbClr val="66E4EE"/>
                </a:solidFill>
                <a:latin typeface="Consolas"/>
              </a:rPr>
              <a:t>08 · WHY IT WINS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94415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spc="120">
                <a:solidFill>
                  <a:srgbClr val="9299AD"/>
                </a:solidFill>
                <a:latin typeface="Consolas"/>
              </a:rPr>
              <a:t>08 / 11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180">
                <a:solidFill>
                  <a:srgbClr val="9299AD"/>
                </a:solidFill>
                <a:latin typeface="Consolas"/>
              </a:rPr>
              <a:t>SKILLBRIDGE  ·  BRIDGE YOUR SKILLS. DISCOVER YOUR OPPORTUNITIES.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141732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>
                <a:solidFill>
                  <a:srgbClr val="F6F7FB"/>
                </a:solidFill>
                <a:latin typeface="Calibri"/>
              </a:rPr>
              <a:t>Not another job board.</a:t>
            </a:r>
          </a:p>
        </p:txBody>
      </p:sp>
      <p:sp>
        <p:nvSpPr>
          <p:cNvPr id="39" name="Oval 38"/>
          <p:cNvSpPr/>
          <p:nvPr/>
        </p:nvSpPr>
        <p:spPr>
          <a:xfrm>
            <a:off x="548640" y="2770632"/>
            <a:ext cx="320040" cy="320040"/>
          </a:xfrm>
          <a:prstGeom prst="ellipse">
            <a:avLst/>
          </a:prstGeom>
          <a:noFill/>
          <a:ln w="15240">
            <a:solidFill>
              <a:srgbClr val="66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2752344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66E4EE"/>
                </a:solidFill>
                <a:latin typeface="Calibri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" y="265176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6F7FB"/>
                </a:solidFill>
                <a:latin typeface="Calibri"/>
              </a:rPr>
              <a:t>Personalisation everywhere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937760" y="2697480"/>
            <a:ext cx="66751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50" b="0">
                <a:solidFill>
                  <a:srgbClr val="9299AD"/>
                </a:solidFill>
                <a:latin typeface="Calibri"/>
              </a:rPr>
              <a:t>Match score isn’t hidden on one page — it drives Home, Dashboard, Skill Match, Detail and Applicant ranking. One user, one story.</a:t>
            </a:r>
          </a:p>
        </p:txBody>
      </p:sp>
      <p:sp>
        <p:nvSpPr>
          <p:cNvPr id="43" name="Oval 42"/>
          <p:cNvSpPr/>
          <p:nvPr/>
        </p:nvSpPr>
        <p:spPr>
          <a:xfrm>
            <a:off x="548640" y="3712464"/>
            <a:ext cx="320040" cy="320040"/>
          </a:xfrm>
          <a:prstGeom prst="ellipse">
            <a:avLst/>
          </a:prstGeom>
          <a:noFill/>
          <a:ln w="15240">
            <a:solidFill>
              <a:srgbClr val="66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8640" y="3694176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66E4EE"/>
                </a:solidFill>
                <a:latin typeface="Calibri"/>
              </a:rPr>
              <a:t>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1560" y="3593592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6F7FB"/>
                </a:solidFill>
                <a:latin typeface="Calibri"/>
              </a:rPr>
              <a:t>Both sides, one product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937760" y="3639312"/>
            <a:ext cx="66751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50" b="0">
                <a:solidFill>
                  <a:srgbClr val="9299AD"/>
                </a:solidFill>
                <a:latin typeface="Calibri"/>
              </a:rPr>
              <a:t>Students ship applications and pros ship shortlists in the same app. Every action on one side creates a signal on the other.</a:t>
            </a:r>
          </a:p>
        </p:txBody>
      </p:sp>
      <p:sp>
        <p:nvSpPr>
          <p:cNvPr id="47" name="Oval 46"/>
          <p:cNvSpPr/>
          <p:nvPr/>
        </p:nvSpPr>
        <p:spPr>
          <a:xfrm>
            <a:off x="548640" y="4654296"/>
            <a:ext cx="320040" cy="320040"/>
          </a:xfrm>
          <a:prstGeom prst="ellipse">
            <a:avLst/>
          </a:prstGeom>
          <a:noFill/>
          <a:ln w="15240">
            <a:solidFill>
              <a:srgbClr val="66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48640" y="4636008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66E4EE"/>
                </a:solidFill>
                <a:latin typeface="Calibri"/>
              </a:rPr>
              <a:t>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51560" y="4535424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6F7FB"/>
                </a:solidFill>
                <a:latin typeface="Calibri"/>
              </a:rPr>
              <a:t>Judges can break it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937760" y="4581144"/>
            <a:ext cx="66751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50" b="0">
                <a:solidFill>
                  <a:srgbClr val="9299AD"/>
                </a:solidFill>
                <a:latin typeface="Calibri"/>
              </a:rPr>
              <a:t>Change your skills → the app re-personalises live. Upload a real PDF → owners see it in the pipeline. Move a status → applicant is notified.</a:t>
            </a:r>
          </a:p>
        </p:txBody>
      </p:sp>
      <p:sp>
        <p:nvSpPr>
          <p:cNvPr id="51" name="Oval 50"/>
          <p:cNvSpPr/>
          <p:nvPr/>
        </p:nvSpPr>
        <p:spPr>
          <a:xfrm>
            <a:off x="548640" y="5596128"/>
            <a:ext cx="320040" cy="320040"/>
          </a:xfrm>
          <a:prstGeom prst="ellipse">
            <a:avLst/>
          </a:prstGeom>
          <a:noFill/>
          <a:ln w="15240">
            <a:solidFill>
              <a:srgbClr val="66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48640" y="5577840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66E4EE"/>
                </a:solidFill>
                <a:latin typeface="Calibri"/>
              </a:rPr>
              <a:t>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51560" y="5477256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6F7FB"/>
                </a:solidFill>
                <a:latin typeface="Calibri"/>
              </a:rPr>
              <a:t>Production-lean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937760" y="5522976"/>
            <a:ext cx="66751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50" b="0">
                <a:solidFill>
                  <a:srgbClr val="9299AD"/>
                </a:solidFill>
                <a:latin typeface="Calibri"/>
              </a:rPr>
              <a:t>10 seeded opportunities, deterministic match, real object storage, real email API, 18 backend tests, 0 console errors.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8016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92024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4048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8056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12064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6072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04088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8096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32104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96112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60120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24128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88136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152144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216152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008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128016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192024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256032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320040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384048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448056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512064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576072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640080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Diamond 31"/>
          <p:cNvSpPr/>
          <p:nvPr/>
        </p:nvSpPr>
        <p:spPr>
          <a:xfrm>
            <a:off x="548640" y="411480"/>
            <a:ext cx="411480" cy="411480"/>
          </a:xfrm>
          <a:prstGeom prst="diamond">
            <a:avLst/>
          </a:prstGeom>
          <a:noFill/>
          <a:ln w="17780">
            <a:solidFill>
              <a:srgbClr val="66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64927" y="527767"/>
            <a:ext cx="178904" cy="178904"/>
          </a:xfrm>
          <a:prstGeom prst="ellipse">
            <a:avLst/>
          </a:prstGeom>
          <a:solidFill>
            <a:srgbClr val="9A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97280" y="393192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180">
                <a:solidFill>
                  <a:srgbClr val="F6F7FB"/>
                </a:solidFill>
                <a:latin typeface="Calibri"/>
              </a:rPr>
              <a:t/>
            </a:r>
            <a:r>
              <a:rPr sz="1300" b="1" spc="220">
                <a:solidFill>
                  <a:srgbClr val="F6F7FB"/>
                </a:solidFill>
                <a:latin typeface="Calibri"/>
              </a:rPr>
              <a:t>SKILL</a:t>
            </a:r>
            <a:r>
              <a:rPr sz="1300" b="1" spc="220">
                <a:solidFill>
                  <a:srgbClr val="66E4EE"/>
                </a:solidFill>
                <a:latin typeface="Calibri"/>
              </a:rPr>
              <a:t>BRIDGE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10972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180">
                <a:solidFill>
                  <a:srgbClr val="66E4EE"/>
                </a:solidFill>
                <a:latin typeface="Consolas"/>
              </a:rPr>
              <a:t>09 · WHAT’S NEXT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94415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spc="120">
                <a:solidFill>
                  <a:srgbClr val="9299AD"/>
                </a:solidFill>
                <a:latin typeface="Consolas"/>
              </a:rPr>
              <a:t>09 / 11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180">
                <a:solidFill>
                  <a:srgbClr val="9299AD"/>
                </a:solidFill>
                <a:latin typeface="Consolas"/>
              </a:rPr>
              <a:t>SKILLBRIDGE  ·  BRIDGE YOUR SKILLS. DISCOVER YOUR OPPORTUNITIES.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141732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F6F7FB"/>
                </a:solidFill>
                <a:latin typeface="Calibri"/>
              </a:rPr>
              <a:t>From hackathon to platform.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2880360"/>
            <a:ext cx="3703320" cy="3291840"/>
          </a:xfrm>
          <a:prstGeom prst="rect">
            <a:avLst/>
          </a:prstGeom>
          <a:solidFill>
            <a:srgbClr val="141A2B"/>
          </a:solidFill>
          <a:ln w="9525">
            <a:solidFill>
              <a:srgbClr val="2A3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48640" y="2880360"/>
            <a:ext cx="3703320" cy="54864"/>
          </a:xfrm>
          <a:prstGeom prst="rect">
            <a:avLst/>
          </a:prstGeom>
          <a:solidFill>
            <a:srgbClr val="66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2960" y="3154680"/>
            <a:ext cx="3703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180">
                <a:solidFill>
                  <a:srgbClr val="66E4EE"/>
                </a:solidFill>
                <a:latin typeface="Consolas"/>
              </a:rPr>
              <a:t>NOW</a:t>
            </a:r>
          </a:p>
        </p:txBody>
      </p:sp>
      <p:sp>
        <p:nvSpPr>
          <p:cNvPr id="42" name="Oval 41"/>
          <p:cNvSpPr/>
          <p:nvPr/>
        </p:nvSpPr>
        <p:spPr>
          <a:xfrm>
            <a:off x="822960" y="3703320"/>
            <a:ext cx="164592" cy="164592"/>
          </a:xfrm>
          <a:prstGeom prst="ellipse">
            <a:avLst/>
          </a:prstGeom>
          <a:solidFill>
            <a:srgbClr val="66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97280" y="3657600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F6F7FB"/>
                </a:solidFill>
                <a:latin typeface="Calibri"/>
              </a:rPr>
              <a:t>Two-sided demo ready</a:t>
            </a:r>
          </a:p>
        </p:txBody>
      </p:sp>
      <p:sp>
        <p:nvSpPr>
          <p:cNvPr id="44" name="Oval 43"/>
          <p:cNvSpPr/>
          <p:nvPr/>
        </p:nvSpPr>
        <p:spPr>
          <a:xfrm>
            <a:off x="822960" y="4206240"/>
            <a:ext cx="164592" cy="164592"/>
          </a:xfrm>
          <a:prstGeom prst="ellipse">
            <a:avLst/>
          </a:prstGeom>
          <a:solidFill>
            <a:srgbClr val="66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97280" y="4160520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F6F7FB"/>
                </a:solidFill>
                <a:latin typeface="Calibri"/>
              </a:rPr>
              <a:t>Real object storage + email</a:t>
            </a:r>
          </a:p>
        </p:txBody>
      </p:sp>
      <p:sp>
        <p:nvSpPr>
          <p:cNvPr id="46" name="Oval 45"/>
          <p:cNvSpPr/>
          <p:nvPr/>
        </p:nvSpPr>
        <p:spPr>
          <a:xfrm>
            <a:off x="822960" y="4709160"/>
            <a:ext cx="164592" cy="164592"/>
          </a:xfrm>
          <a:prstGeom prst="ellipse">
            <a:avLst/>
          </a:prstGeom>
          <a:solidFill>
            <a:srgbClr val="66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97280" y="4663440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F6F7FB"/>
                </a:solidFill>
                <a:latin typeface="Calibri"/>
              </a:rPr>
              <a:t>Deterministic AI match</a:t>
            </a:r>
          </a:p>
        </p:txBody>
      </p:sp>
      <p:sp>
        <p:nvSpPr>
          <p:cNvPr id="48" name="Oval 47"/>
          <p:cNvSpPr/>
          <p:nvPr/>
        </p:nvSpPr>
        <p:spPr>
          <a:xfrm>
            <a:off x="822960" y="5212080"/>
            <a:ext cx="164592" cy="164592"/>
          </a:xfrm>
          <a:prstGeom prst="ellipse">
            <a:avLst/>
          </a:prstGeom>
          <a:solidFill>
            <a:srgbClr val="66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97280" y="5166360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F6F7FB"/>
                </a:solidFill>
                <a:latin typeface="Calibri"/>
              </a:rPr>
              <a:t>Full application pipeline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389120" y="2880360"/>
            <a:ext cx="3703320" cy="3291840"/>
          </a:xfrm>
          <a:prstGeom prst="rect">
            <a:avLst/>
          </a:prstGeom>
          <a:solidFill>
            <a:srgbClr val="141A2B"/>
          </a:solidFill>
          <a:ln w="9525">
            <a:solidFill>
              <a:srgbClr val="2A3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389120" y="2880360"/>
            <a:ext cx="3703320" cy="54864"/>
          </a:xfrm>
          <a:prstGeom prst="rect">
            <a:avLst/>
          </a:prstGeom>
          <a:solidFill>
            <a:srgbClr val="9A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663440" y="3154680"/>
            <a:ext cx="3703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180">
                <a:solidFill>
                  <a:srgbClr val="9A7AFF"/>
                </a:solidFill>
                <a:latin typeface="Consolas"/>
              </a:rPr>
              <a:t>NEXT 4 WEEKS</a:t>
            </a:r>
          </a:p>
        </p:txBody>
      </p:sp>
      <p:sp>
        <p:nvSpPr>
          <p:cNvPr id="53" name="Oval 52"/>
          <p:cNvSpPr/>
          <p:nvPr/>
        </p:nvSpPr>
        <p:spPr>
          <a:xfrm>
            <a:off x="4663440" y="3703320"/>
            <a:ext cx="164592" cy="164592"/>
          </a:xfrm>
          <a:prstGeom prst="ellipse">
            <a:avLst/>
          </a:prstGeom>
          <a:solidFill>
            <a:srgbClr val="9A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937760" y="3657600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F6F7FB"/>
                </a:solidFill>
                <a:latin typeface="Calibri"/>
              </a:rPr>
              <a:t>Session-based auth + Google OAuth</a:t>
            </a:r>
          </a:p>
        </p:txBody>
      </p:sp>
      <p:sp>
        <p:nvSpPr>
          <p:cNvPr id="55" name="Oval 54"/>
          <p:cNvSpPr/>
          <p:nvPr/>
        </p:nvSpPr>
        <p:spPr>
          <a:xfrm>
            <a:off x="4663440" y="4206240"/>
            <a:ext cx="164592" cy="164592"/>
          </a:xfrm>
          <a:prstGeom prst="ellipse">
            <a:avLst/>
          </a:prstGeom>
          <a:solidFill>
            <a:srgbClr val="9A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937760" y="4160520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F6F7FB"/>
                </a:solidFill>
                <a:latin typeface="Calibri"/>
              </a:rPr>
              <a:t>Verified sender domain for Resend</a:t>
            </a:r>
          </a:p>
        </p:txBody>
      </p:sp>
      <p:sp>
        <p:nvSpPr>
          <p:cNvPr id="57" name="Oval 56"/>
          <p:cNvSpPr/>
          <p:nvPr/>
        </p:nvSpPr>
        <p:spPr>
          <a:xfrm>
            <a:off x="4663440" y="4709160"/>
            <a:ext cx="164592" cy="164592"/>
          </a:xfrm>
          <a:prstGeom prst="ellipse">
            <a:avLst/>
          </a:prstGeom>
          <a:solidFill>
            <a:srgbClr val="9A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937760" y="4663440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F6F7FB"/>
                </a:solidFill>
                <a:latin typeface="Calibri"/>
              </a:rPr>
              <a:t>Recruiter messaging inline</a:t>
            </a:r>
          </a:p>
        </p:txBody>
      </p:sp>
      <p:sp>
        <p:nvSpPr>
          <p:cNvPr id="59" name="Oval 58"/>
          <p:cNvSpPr/>
          <p:nvPr/>
        </p:nvSpPr>
        <p:spPr>
          <a:xfrm>
            <a:off x="4663440" y="5212080"/>
            <a:ext cx="164592" cy="164592"/>
          </a:xfrm>
          <a:prstGeom prst="ellipse">
            <a:avLst/>
          </a:prstGeom>
          <a:solidFill>
            <a:srgbClr val="9A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937760" y="5166360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F6F7FB"/>
                </a:solidFill>
                <a:latin typeface="Calibri"/>
              </a:rPr>
              <a:t>Public shareable profile URL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229600" y="2880360"/>
            <a:ext cx="3703320" cy="3291840"/>
          </a:xfrm>
          <a:prstGeom prst="rect">
            <a:avLst/>
          </a:prstGeom>
          <a:solidFill>
            <a:srgbClr val="141A2B"/>
          </a:solidFill>
          <a:ln w="9525">
            <a:solidFill>
              <a:srgbClr val="2A3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8229600" y="2880360"/>
            <a:ext cx="3703320" cy="54864"/>
          </a:xfrm>
          <a:prstGeom prst="rect">
            <a:avLst/>
          </a:prstGeom>
          <a:solidFill>
            <a:srgbClr val="F78A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503920" y="3154680"/>
            <a:ext cx="3703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180">
                <a:solidFill>
                  <a:srgbClr val="F78AD5"/>
                </a:solidFill>
                <a:latin typeface="Consolas"/>
              </a:rPr>
              <a:t>NEXT 6 MONTHS</a:t>
            </a:r>
          </a:p>
        </p:txBody>
      </p:sp>
      <p:sp>
        <p:nvSpPr>
          <p:cNvPr id="64" name="Oval 63"/>
          <p:cNvSpPr/>
          <p:nvPr/>
        </p:nvSpPr>
        <p:spPr>
          <a:xfrm>
            <a:off x="8503920" y="3703320"/>
            <a:ext cx="164592" cy="164592"/>
          </a:xfrm>
          <a:prstGeom prst="ellipse">
            <a:avLst/>
          </a:prstGeom>
          <a:solidFill>
            <a:srgbClr val="F78A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778240" y="3657600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F6F7FB"/>
                </a:solidFill>
                <a:latin typeface="Calibri"/>
              </a:rPr>
              <a:t>Interview scheduler</a:t>
            </a:r>
          </a:p>
        </p:txBody>
      </p:sp>
      <p:sp>
        <p:nvSpPr>
          <p:cNvPr id="66" name="Oval 65"/>
          <p:cNvSpPr/>
          <p:nvPr/>
        </p:nvSpPr>
        <p:spPr>
          <a:xfrm>
            <a:off x="8503920" y="4206240"/>
            <a:ext cx="164592" cy="164592"/>
          </a:xfrm>
          <a:prstGeom prst="ellipse">
            <a:avLst/>
          </a:prstGeom>
          <a:solidFill>
            <a:srgbClr val="F78A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778240" y="4160520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F6F7FB"/>
                </a:solidFill>
                <a:latin typeface="Calibri"/>
              </a:rPr>
              <a:t>Skill assessments (auto-verified)</a:t>
            </a:r>
          </a:p>
        </p:txBody>
      </p:sp>
      <p:sp>
        <p:nvSpPr>
          <p:cNvPr id="68" name="Oval 67"/>
          <p:cNvSpPr/>
          <p:nvPr/>
        </p:nvSpPr>
        <p:spPr>
          <a:xfrm>
            <a:off x="8503920" y="4709160"/>
            <a:ext cx="164592" cy="164592"/>
          </a:xfrm>
          <a:prstGeom prst="ellipse">
            <a:avLst/>
          </a:prstGeom>
          <a:solidFill>
            <a:srgbClr val="F78A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778240" y="4663440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F6F7FB"/>
                </a:solidFill>
                <a:latin typeface="Calibri"/>
              </a:rPr>
              <a:t>Team dashboards for colleges</a:t>
            </a:r>
          </a:p>
        </p:txBody>
      </p:sp>
      <p:sp>
        <p:nvSpPr>
          <p:cNvPr id="70" name="Oval 69"/>
          <p:cNvSpPr/>
          <p:nvPr/>
        </p:nvSpPr>
        <p:spPr>
          <a:xfrm>
            <a:off x="8503920" y="5212080"/>
            <a:ext cx="164592" cy="164592"/>
          </a:xfrm>
          <a:prstGeom prst="ellipse">
            <a:avLst/>
          </a:prstGeom>
          <a:solidFill>
            <a:srgbClr val="F78A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778240" y="5166360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F6F7FB"/>
                </a:solidFill>
                <a:latin typeface="Calibri"/>
              </a:rPr>
              <a:t>Freelance escrow (Stripe)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55448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33172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10896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88620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66344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4068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4964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32688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10412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88136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65860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77724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155448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233172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310896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388620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466344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544068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621792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686800" y="1645920"/>
            <a:ext cx="3474720" cy="3474720"/>
          </a:xfrm>
          <a:prstGeom prst="ellipse">
            <a:avLst/>
          </a:prstGeom>
          <a:solidFill>
            <a:srgbClr val="9A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418320" y="5029200"/>
            <a:ext cx="3474720" cy="3474720"/>
          </a:xfrm>
          <a:prstGeom prst="ellipse">
            <a:avLst/>
          </a:prstGeom>
          <a:solidFill>
            <a:srgbClr val="66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Diamond 27"/>
          <p:cNvSpPr/>
          <p:nvPr/>
        </p:nvSpPr>
        <p:spPr>
          <a:xfrm>
            <a:off x="548640" y="411480"/>
            <a:ext cx="411480" cy="411480"/>
          </a:xfrm>
          <a:prstGeom prst="diamond">
            <a:avLst/>
          </a:prstGeom>
          <a:noFill/>
          <a:ln w="17780">
            <a:solidFill>
              <a:srgbClr val="66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64927" y="527767"/>
            <a:ext cx="178904" cy="178904"/>
          </a:xfrm>
          <a:prstGeom prst="ellipse">
            <a:avLst/>
          </a:prstGeom>
          <a:solidFill>
            <a:srgbClr val="9A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7280" y="393192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180">
                <a:solidFill>
                  <a:srgbClr val="F6F7FB"/>
                </a:solidFill>
                <a:latin typeface="Calibri"/>
              </a:rPr>
              <a:t/>
            </a:r>
            <a:r>
              <a:rPr sz="1300" b="1" spc="220">
                <a:solidFill>
                  <a:srgbClr val="F6F7FB"/>
                </a:solidFill>
                <a:latin typeface="Calibri"/>
              </a:rPr>
              <a:t>SKILL</a:t>
            </a:r>
            <a:r>
              <a:rPr sz="1300" b="1" spc="220">
                <a:solidFill>
                  <a:srgbClr val="66E4EE"/>
                </a:solidFill>
                <a:latin typeface="Calibri"/>
              </a:rPr>
              <a:t>BRIDGE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21945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180">
                <a:solidFill>
                  <a:srgbClr val="66E4EE"/>
                </a:solidFill>
                <a:latin typeface="Consolas"/>
              </a:rPr>
              <a:t>TRY IT · ASK US · JUDGE US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2514600"/>
            <a:ext cx="85953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2000"/>
              </a:lnSpc>
            </a:pPr>
            <a:r>
              <a:rPr sz="7200" b="1">
                <a:solidFill>
                  <a:srgbClr val="F6F7FB"/>
                </a:solidFill>
                <a:latin typeface="Calibri"/>
              </a:rPr>
              <a:t>Bridge your skills.</a:t>
            </a:r>
          </a:p>
          <a:p>
            <a:pPr>
              <a:lnSpc>
                <a:spcPct val="102000"/>
              </a:lnSpc>
            </a:pPr>
            <a:r>
              <a:rPr sz="4800" b="1">
                <a:solidFill>
                  <a:srgbClr val="F6F7FB"/>
                </a:solidFill>
                <a:latin typeface="Calibri"/>
              </a:rPr>
              <a:t>We built the bridge. </a:t>
            </a:r>
            <a:r>
              <a:rPr sz="4800" b="1">
                <a:solidFill>
                  <a:srgbClr val="9A7AFF"/>
                </a:solidFill>
                <a:latin typeface="Calibri"/>
              </a:rPr>
              <a:t>Ready to walk it?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5394960"/>
            <a:ext cx="6858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9299AD"/>
                </a:solidFill>
                <a:latin typeface="Calibri"/>
              </a:rPr>
              <a:t>Live demo · Student aarav@demo.com · Professional maya@demo.com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6035040"/>
            <a:ext cx="2011680" cy="292608"/>
          </a:xfrm>
          <a:prstGeom prst="roundRect">
            <a:avLst/>
          </a:prstGeom>
          <a:solidFill>
            <a:srgbClr val="101F27"/>
          </a:solidFill>
          <a:ln w="9525">
            <a:solidFill>
              <a:srgbClr val="66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900" b="1">
                <a:solidFill>
                  <a:srgbClr val="66E4EE"/>
                </a:solidFill>
                <a:latin typeface="Consolas"/>
              </a:rPr>
              <a:t>TRY THE DEMO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743200" y="6035040"/>
            <a:ext cx="2560320" cy="292608"/>
          </a:xfrm>
          <a:prstGeom prst="roundRect">
            <a:avLst/>
          </a:prstGeom>
          <a:solidFill>
            <a:srgbClr val="101F27"/>
          </a:solidFill>
          <a:ln w="9525">
            <a:solidFill>
              <a:srgbClr val="9A7A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900" b="1">
                <a:solidFill>
                  <a:srgbClr val="9A7AFF"/>
                </a:solidFill>
                <a:latin typeface="Consolas"/>
              </a:rPr>
              <a:t>QUESTIONS · WELCOME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0" y="6035040"/>
            <a:ext cx="2194560" cy="292608"/>
          </a:xfrm>
          <a:prstGeom prst="roundRect">
            <a:avLst/>
          </a:prstGeom>
          <a:solidFill>
            <a:srgbClr val="101F27"/>
          </a:solidFill>
          <a:ln w="9525">
            <a:solidFill>
              <a:srgbClr val="F78A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900" b="1">
                <a:solidFill>
                  <a:srgbClr val="F78AD5"/>
                </a:solidFill>
                <a:latin typeface="Consolas"/>
              </a:rPr>
              <a:t>THANK YOU · JUDGES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281160" y="2331720"/>
            <a:ext cx="2468880" cy="3566160"/>
          </a:xfrm>
          <a:prstGeom prst="rect">
            <a:avLst/>
          </a:prstGeom>
          <a:solidFill>
            <a:srgbClr val="111522"/>
          </a:solidFill>
          <a:ln w="9525">
            <a:solidFill>
              <a:srgbClr val="66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509760" y="256032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180">
                <a:solidFill>
                  <a:srgbClr val="66E4EE"/>
                </a:solidFill>
                <a:latin typeface="Consolas"/>
              </a:rPr>
              <a:t>SCAN · OPEN ON YOUR PHONE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601200" y="2971800"/>
            <a:ext cx="1828800" cy="182880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_qr_de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0" y="3063240"/>
            <a:ext cx="1645920" cy="164592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9509760" y="493776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F6F7FB"/>
                </a:solidFill>
                <a:latin typeface="Calibri"/>
              </a:rPr>
              <a:t>Try it while we talk.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509760" y="525780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100">
                <a:solidFill>
                  <a:srgbClr val="66E4EE"/>
                </a:solidFill>
                <a:latin typeface="Consolas"/>
              </a:rPr>
              <a:t>ai-match-hub-10.preview.emergentagent.com/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094415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spc="120">
                <a:solidFill>
                  <a:srgbClr val="9299AD"/>
                </a:solidFill>
                <a:latin typeface="Consolas"/>
              </a:rPr>
              <a:t>11 /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
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6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2011680"/>
            <a:ext cx="3291840" cy="3291840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0" y="4572000"/>
            <a:ext cx="3291840" cy="3291840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02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· AI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BRIDGE YOUR NEXT CHAPTER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514600"/>
            <a:ext cx="1097280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2000"/>
              </a:lnSpc>
            </a:pPr>
            <a:r>
              <a:rPr sz="7200" b="1">
                <a:solidFill>
                  <a:srgbClr val="F6F7FB"/>
                </a:solidFill>
                <a:latin typeface="Calibri"/>
              </a:rPr>
              <a:t>Bridge your skills.</a:t>
            </a:r>
          </a:p>
          <a:p>
            <a:pPr>
              <a:lnSpc>
                <a:spcPct val="102000"/>
              </a:lnSpc>
            </a:pPr>
            <a:r>
              <a:rPr sz="7200" b="1">
                <a:solidFill>
                  <a:srgbClr val="9A7AFF"/>
                </a:solidFill>
                <a:latin typeface="Calibri"/>
              </a:rPr>
              <a:t>Discover </a:t>
            </a:r>
            <a:r>
              <a:rPr sz="7200" b="1">
                <a:solidFill>
                  <a:srgbClr val="F6F7FB"/>
                </a:solidFill>
                <a:latin typeface="Calibri"/>
              </a:rPr>
              <a:t>your opportunities.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864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9299AD"/>
                </a:solidFill>
                <a:latin typeface="Calibri"/>
              </a:rPr>
              <a:t>AI-powered opportunities built around what you can do.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6126480"/>
            <a:ext cx="173736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66E4EE"/>
                </a:solidFill>
                <a:latin typeface="Consolas"/>
              </a:rPr>
              <a:t>AI SKILL MATCH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6126480"/>
            <a:ext cx="192024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9A7AFF"/>
                </a:solidFill>
                <a:latin typeface="Consolas"/>
              </a:rPr>
              <a:t>STUDENTS + PROS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6126480"/>
            <a:ext cx="192024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F78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78AD5"/>
                </a:solidFill>
                <a:latin typeface="Consolas"/>
              </a:rPr>
              <a:t>HIRING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126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spc="180">
                <a:solidFill>
                  <a:srgbClr val="9299AD"/>
                </a:solidFill>
                <a:latin typeface="Consolas"/>
              </a:rPr>
              <a:t>Team ·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01 · THE PROBLEM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01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6F7FB"/>
                </a:solidFill>
                <a:latin typeface="Calibri"/>
              </a:rPr>
              <a:t>Talent and opportunity</a:t>
            </a:r>
          </a:p>
          <a:p>
            <a:pPr algn="l">
              <a:lnSpc>
                <a:spcPct val="102000"/>
              </a:lnSpc>
            </a:pPr>
            <a:r>
              <a:rPr sz="5400" b="1">
                <a:solidFill>
                  <a:srgbClr val="F6F7FB"/>
                </a:solidFill>
                <a:latin typeface="Calibri"/>
              </a:rPr>
              <a:t>keep missing each other.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40480"/>
            <a:ext cx="3703320" cy="22860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3840480"/>
            <a:ext cx="3703320" cy="45720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Generic listings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66344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Students scroll past hundreds of roles they don’t fit.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Relevance is buried inside filters that need a resume they don’t have yet.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840480"/>
            <a:ext cx="3703320" cy="22860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3840480"/>
            <a:ext cx="3703320" cy="45720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Skills go invisible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66344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Freelancers and skilled professionals waste hours proving what a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2-line search bar cannot see — projects, side wins, portfolios.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840480"/>
            <a:ext cx="3703320" cy="22860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840480"/>
            <a:ext cx="3703320" cy="45720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3920" y="41605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6F7FB"/>
                </a:solidFill>
                <a:latin typeface="Calibri"/>
              </a:rPr>
              <a:t>Hiring is fragmented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663440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Owners of internships and freelance briefs juggle inboxes, forms and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9299AD"/>
                </a:solidFill>
                <a:latin typeface="Calibri"/>
              </a:rPr>
              <a:t>spreadsheets — no clean pipeline from applicant to shortlist.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02 · THE 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02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6F7FB"/>
                </a:solidFill>
                <a:latin typeface="Calibri"/>
              </a:rPr>
              <a:t>One AI-powered bridge.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6F7FB"/>
                </a:solidFill>
                <a:latin typeface="Calibri"/>
              </a:rPr>
              <a:t>Both sides of the market.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383280"/>
            <a:ext cx="65836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SKILLBRIDGE learns what a person can actually do — skills, interests,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portfolio, past applications — and matches them to the opportunities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where they will meaningfully show up.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For students it removes the noise. For professionals it surfaces work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worth their craft. For owners it turns an inbox into a pipeline.</a:t>
            </a:r>
          </a:p>
        </p:txBody>
      </p:sp>
      <p:sp>
        <p:nvSpPr>
          <p:cNvPr id="40" name="Oval 39"/>
          <p:cNvSpPr/>
          <p:nvPr/>
        </p:nvSpPr>
        <p:spPr>
          <a:xfrm>
            <a:off x="8778240" y="3703320"/>
            <a:ext cx="2194560" cy="2194560"/>
          </a:xfrm>
          <a:prstGeom prst="ellipse">
            <a:avLst/>
          </a:prstGeom>
          <a:solidFill>
            <a:srgbClr val="141A2B"/>
          </a:solidFill>
          <a:ln w="1905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58200" y="3383280"/>
            <a:ext cx="2834640" cy="2834640"/>
          </a:xfrm>
          <a:prstGeom prst="ellipse">
            <a:avLst/>
          </a:prstGeom>
          <a:noFill/>
          <a:ln w="6350">
            <a:solidFill>
              <a:srgbClr val="66E4E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38160" y="3063240"/>
            <a:ext cx="3474720" cy="3474720"/>
          </a:xfrm>
          <a:prstGeom prst="ellipse">
            <a:avLst/>
          </a:prstGeom>
          <a:noFill/>
          <a:ln w="6350">
            <a:solidFill>
              <a:srgbClr val="66E4E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AI SKILL MATCH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6634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89%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03 · WHAT WE BUILT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6F7FB"/>
                </a:solidFill>
                <a:latin typeface="Calibri"/>
              </a:rPr>
              <a:t>Everything you need for a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6F7FB"/>
                </a:solidFill>
                <a:latin typeface="Calibri"/>
              </a:rPr>
              <a:t>full two-sided demo.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3502152"/>
            <a:ext cx="146304" cy="1463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Role Selection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Student / Skilled Professional flow with tailored onboarding.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67963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96563" y="3502152"/>
            <a:ext cx="146304" cy="146304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70883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AI Skill 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6563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Deterministic overlap scoring · Home + Dashboard + Skill Match page.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7287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15887" y="3502152"/>
            <a:ext cx="146304" cy="146304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90207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Personalised Feed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5887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Opportunities ranked by user skills, interests and goals.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611" y="324612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235211" y="3502152"/>
            <a:ext cx="146304" cy="146304"/>
          </a:xfrm>
          <a:prstGeom prst="ellipse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9531" y="344728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Application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211" y="388620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Multi-step Apply · Resume · Cover letter · Instant success.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7240" y="5056632"/>
            <a:ext cx="146304" cy="146304"/>
          </a:xfrm>
          <a:prstGeom prst="ellipse">
            <a:avLst/>
          </a:prstGeom>
          <a:solidFill>
            <a:srgbClr val="4F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Applicant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Owners review applicants, move Applied → Shortlisted → Selected.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67963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96563" y="5056632"/>
            <a:ext cx="146304" cy="1463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70883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Portfolio Uploads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96563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PDF / images via Emergent Object Storage — served through API.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7287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15887" y="5056632"/>
            <a:ext cx="146304" cy="146304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90207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Notification Bell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5887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Live popover · Unread dot · Mark-all-read · Deep link inbox.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06611" y="4800600"/>
            <a:ext cx="2636443" cy="13716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235211" y="5056632"/>
            <a:ext cx="146304" cy="146304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531" y="5001768"/>
            <a:ext cx="19963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6F7FB"/>
                </a:solidFill>
                <a:latin typeface="Calibri"/>
              </a:rPr>
              <a:t>Real Reset Email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211" y="5440680"/>
            <a:ext cx="21792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299AD"/>
                </a:solidFill>
                <a:latin typeface="Calibri"/>
              </a:rPr>
              <a:t>Resend integration · Branded HTML · Sandbox-aware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04 · THE AI MATCH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04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6F7FB"/>
                </a:solidFill>
                <a:latin typeface="Calibri"/>
              </a:rPr>
              <a:t>Deterministic, explainable,</a:t>
            </a:r>
          </a:p>
          <a:p>
            <a:pPr algn="l">
              <a:lnSpc>
                <a:spcPct val="105000"/>
              </a:lnSpc>
            </a:pPr>
            <a:r>
              <a:rPr sz="4200" b="1">
                <a:solidFill>
                  <a:srgbClr val="F6F7FB"/>
                </a:solidFill>
                <a:latin typeface="Calibri"/>
              </a:rPr>
              <a:t>fast enough to feel magical.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29184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Same input → same score. No black-box tricks.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Overlap ratio between user skills and role skills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+10 pt bonus when 2+ skills align (signal, not luck)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Boosts for interest + goal alignment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•  Clamped 38 – 99 so no score feels fake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Every match on Home, Dashboard and Detail is computed live from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9299AD"/>
                </a:solidFill>
                <a:latin typeface="Calibri"/>
              </a:rPr>
              <a:t>the user’s profile. Edit a skill → the whole app re-personalises.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3017520"/>
            <a:ext cx="3840480" cy="3017520"/>
          </a:xfrm>
          <a:prstGeom prst="rect">
            <a:avLst/>
          </a:prstGeom>
          <a:solidFill>
            <a:srgbClr val="141A2B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3291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AI SKILL MATCH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520440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6F7FB"/>
                </a:solidFill>
                <a:latin typeface="Calibri"/>
              </a:rPr>
              <a:t>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470916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React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470916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94%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4754880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4754880"/>
            <a:ext cx="1547164" cy="118872"/>
          </a:xfrm>
          <a:prstGeom prst="rect">
            <a:avLst/>
          </a:prstGeom>
          <a:solidFill>
            <a:srgbClr val="4F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50017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JavaScript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500176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88%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5047488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5047488"/>
            <a:ext cx="1448409" cy="118872"/>
          </a:xfrm>
          <a:prstGeom prst="rect">
            <a:avLst/>
          </a:prstGeom>
          <a:solidFill>
            <a:srgbClr val="4FD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529437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UI/UX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529437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76%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5340096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5340096"/>
            <a:ext cx="1250899" cy="118872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5586984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6F7FB"/>
                </a:solidFill>
                <a:latin typeface="Calibri"/>
              </a:rPr>
              <a:t>TypeScript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558698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6E4EE"/>
                </a:solidFill>
                <a:latin typeface="Consolas"/>
              </a:rPr>
              <a:t>42%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5632704"/>
            <a:ext cx="1645920" cy="118872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5632704"/>
            <a:ext cx="691286" cy="118872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05 · THE DEMO JOURNEY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05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A full loop in under two minutes.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55321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880360"/>
            <a:ext cx="54864" cy="3291840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10896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9A7AFF"/>
                </a:solidFill>
                <a:latin typeface="Consolas"/>
              </a:rPr>
              <a:t>STUDENT · AARAV</a:t>
            </a:r>
          </a:p>
        </p:txBody>
      </p:sp>
      <p:sp>
        <p:nvSpPr>
          <p:cNvPr id="42" name="Oval 41"/>
          <p:cNvSpPr/>
          <p:nvPr/>
        </p:nvSpPr>
        <p:spPr>
          <a:xfrm>
            <a:off x="868680" y="356616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5478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35935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Role selection · Continue as Student</a:t>
            </a:r>
          </a:p>
        </p:txBody>
      </p:sp>
      <p:sp>
        <p:nvSpPr>
          <p:cNvPr id="45" name="Oval 44"/>
          <p:cNvSpPr/>
          <p:nvPr/>
        </p:nvSpPr>
        <p:spPr>
          <a:xfrm>
            <a:off x="868680" y="406908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0507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40965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Demo access · Onboarding (skills, interests, goal)</a:t>
            </a:r>
          </a:p>
        </p:txBody>
      </p:sp>
      <p:sp>
        <p:nvSpPr>
          <p:cNvPr id="48" name="Oval 47"/>
          <p:cNvSpPr/>
          <p:nvPr/>
        </p:nvSpPr>
        <p:spPr>
          <a:xfrm>
            <a:off x="868680" y="457200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4553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45994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Home shows personalised match + top 3 opportunities</a:t>
            </a:r>
          </a:p>
        </p:txBody>
      </p:sp>
      <p:sp>
        <p:nvSpPr>
          <p:cNvPr id="51" name="Oval 50"/>
          <p:cNvSpPr/>
          <p:nvPr/>
        </p:nvSpPr>
        <p:spPr>
          <a:xfrm>
            <a:off x="868680" y="507492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0566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51023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Open Frontend Dev Intern · Apply flow · Submit</a:t>
            </a:r>
          </a:p>
        </p:txBody>
      </p:sp>
      <p:sp>
        <p:nvSpPr>
          <p:cNvPr id="54" name="Oval 53"/>
          <p:cNvSpPr/>
          <p:nvPr/>
        </p:nvSpPr>
        <p:spPr>
          <a:xfrm>
            <a:off x="868680" y="5577840"/>
            <a:ext cx="292608" cy="292608"/>
          </a:xfrm>
          <a:prstGeom prst="ellipse">
            <a:avLst/>
          </a:prstGeom>
          <a:noFill/>
          <a:ln w="12700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559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9A7AFF"/>
                </a:solidFill>
                <a:latin typeface="Calibr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5605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Application appears in My Applications instantly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2880360"/>
            <a:ext cx="55321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2880360"/>
            <a:ext cx="54864" cy="3291840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3108960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PROFESSIONAL · MAYA (OWNER)</a:t>
            </a:r>
          </a:p>
        </p:txBody>
      </p:sp>
      <p:sp>
        <p:nvSpPr>
          <p:cNvPr id="60" name="Oval 59"/>
          <p:cNvSpPr/>
          <p:nvPr/>
        </p:nvSpPr>
        <p:spPr>
          <a:xfrm>
            <a:off x="6583680" y="356616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35478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359359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Enter demo as Skilled Professional</a:t>
            </a:r>
          </a:p>
        </p:txBody>
      </p:sp>
      <p:sp>
        <p:nvSpPr>
          <p:cNvPr id="63" name="Oval 62"/>
          <p:cNvSpPr/>
          <p:nvPr/>
        </p:nvSpPr>
        <p:spPr>
          <a:xfrm>
            <a:off x="6583680" y="406908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40507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409651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Tune profile · Upload portfolio PDF to storage</a:t>
            </a:r>
          </a:p>
        </p:txBody>
      </p:sp>
      <p:sp>
        <p:nvSpPr>
          <p:cNvPr id="66" name="Oval 65"/>
          <p:cNvSpPr/>
          <p:nvPr/>
        </p:nvSpPr>
        <p:spPr>
          <a:xfrm>
            <a:off x="6583680" y="457200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45537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459943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Workspace shows 7 owned opportunities with counts</a:t>
            </a:r>
          </a:p>
        </p:txBody>
      </p:sp>
      <p:sp>
        <p:nvSpPr>
          <p:cNvPr id="69" name="Oval 68"/>
          <p:cNvSpPr/>
          <p:nvPr/>
        </p:nvSpPr>
        <p:spPr>
          <a:xfrm>
            <a:off x="6583680" y="507492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0" y="50566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510235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Review Applicants · See Aarav ranked by match score</a:t>
            </a:r>
          </a:p>
        </p:txBody>
      </p:sp>
      <p:sp>
        <p:nvSpPr>
          <p:cNvPr id="72" name="Oval 71"/>
          <p:cNvSpPr/>
          <p:nvPr/>
        </p:nvSpPr>
        <p:spPr>
          <a:xfrm>
            <a:off x="6583680" y="5577840"/>
            <a:ext cx="292608" cy="292608"/>
          </a:xfrm>
          <a:prstGeom prst="ellipse">
            <a:avLst/>
          </a:prstGeom>
          <a:noFill/>
          <a:ln w="1270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0" y="55595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0" y="56052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6F7FB"/>
                </a:solidFill>
                <a:latin typeface="Calibri"/>
              </a:rPr>
              <a:t>Move to Shortlisted → Aarav gets a live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06 · 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06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Small stack. Big product.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3703320" cy="28346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9A7AFF"/>
                </a:solidFill>
                <a:latin typeface="Consolas"/>
              </a:rP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352044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React 19 + React Router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Context-driven dynamic data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Deterministic match (mirror)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Skeletons + empty states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Tailwind-free custom CSS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2880360"/>
            <a:ext cx="3703320" cy="28346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BACKEND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52044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FastAPI + Motor (async)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MongoDB collections: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· users · opportunities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· applications · saved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· notifications · portfolio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Seeded opportunities on startup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880360"/>
            <a:ext cx="3703320" cy="28346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F78AD5"/>
                </a:solidFill>
                <a:latin typeface="Consolas"/>
              </a:rPr>
              <a:t>INTEGRATIONS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3520440"/>
            <a:ext cx="31546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Resend — real reset email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Emergent Object Storage —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   portfolio uploads (PDF / img)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Pydantic v2 payload models</a:t>
            </a:r>
          </a:p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CORS + supervisor-managed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Pytest cases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19856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2736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88536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Seeded opportunities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1072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3952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59752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Application statuses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62288" y="5852160"/>
            <a:ext cx="2761488" cy="457200"/>
          </a:xfrm>
          <a:prstGeom prst="rect">
            <a:avLst/>
          </a:prstGeom>
          <a:solidFill>
            <a:srgbClr val="0E1220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45168" y="593445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66E4EE"/>
                </a:solidFill>
                <a:latin typeface="Calibri"/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8" y="5989320"/>
            <a:ext cx="1801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140">
                <a:solidFill>
                  <a:srgbClr val="9299AD"/>
                </a:solidFill>
                <a:latin typeface="Consolas"/>
              </a:rPr>
              <a:t>Console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07 · THE PRODUCT · SCREENS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07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Real, working, live.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A7AFF"/>
                </a:solidFill>
                <a:latin typeface="Calibri"/>
              </a:rPr>
              <a:t>HOME · MATCH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68680" y="4251960"/>
            <a:ext cx="1827588" cy="82296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8680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8680" y="4453128"/>
            <a:ext cx="1522990" cy="82296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8680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68680" y="4654296"/>
            <a:ext cx="1218392" cy="82296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Dynamic score · strongest skill · next skill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Personalised top 3 opportunities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56533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39413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39413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85133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6E4EE"/>
                </a:solidFill>
                <a:latin typeface="Calibri"/>
              </a:rPr>
              <a:t>APPLY FLOW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76573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76573" y="4251960"/>
            <a:ext cx="1827588" cy="82296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76573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76573" y="4453128"/>
            <a:ext cx="1522990" cy="82296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76573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76573" y="4654296"/>
            <a:ext cx="1218392" cy="82296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85133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4 steps · resume upload · cover letter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Success screen · applications updates live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64427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47307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47307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93027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78AD5"/>
                </a:solidFill>
                <a:latin typeface="Calibri"/>
              </a:rPr>
              <a:t>APPLICANT PIPELINE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84467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84467" y="4251960"/>
            <a:ext cx="1827588" cy="82296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84467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84467" y="4453128"/>
            <a:ext cx="1522990" cy="82296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84467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84467" y="4654296"/>
            <a:ext cx="1218392" cy="82296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93027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Ranked by match · portfolio link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Status buttons write to DB + notify user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72321" y="2880360"/>
            <a:ext cx="2670733" cy="320040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155201" y="3108960"/>
            <a:ext cx="2304973" cy="3657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55201" y="3611880"/>
            <a:ext cx="2304973" cy="1280160"/>
          </a:xfrm>
          <a:prstGeom prst="rect">
            <a:avLst/>
          </a:prstGeom>
          <a:solidFill>
            <a:srgbClr val="0E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00921" y="3749040"/>
            <a:ext cx="22135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4BC6B"/>
                </a:solidFill>
                <a:latin typeface="Calibri"/>
              </a:rPr>
              <a:t>NOTIFICATION BELL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92361" y="4251960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92361" y="4251960"/>
            <a:ext cx="1827588" cy="82296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292361" y="4453128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92361" y="4453128"/>
            <a:ext cx="1522990" cy="82296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92361" y="4654296"/>
            <a:ext cx="2030653" cy="82296"/>
          </a:xfrm>
          <a:prstGeom prst="rect">
            <a:avLst/>
          </a:prstGeom>
          <a:solidFill>
            <a:srgbClr val="24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292361" y="4654296"/>
            <a:ext cx="1218392" cy="82296"/>
          </a:xfrm>
          <a:prstGeom prst="rect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200921" y="5074920"/>
            <a:ext cx="221353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Popover · unread dot · mark-all-read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Status changes appear in real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08 · WHY IT WINS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08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6F7FB"/>
                </a:solidFill>
                <a:latin typeface="Calibri"/>
              </a:rPr>
              <a:t>Not another job board.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2770632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275234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Personalisation everywhere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2697480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Match score isn’t hidden on one page — it drives Home, Dashboard, Skill Match, Detail and Applicant ranking. One user, one story.</a:t>
            </a:r>
          </a:p>
        </p:txBody>
      </p:sp>
      <p:sp>
        <p:nvSpPr>
          <p:cNvPr id="43" name="Oval 42"/>
          <p:cNvSpPr/>
          <p:nvPr/>
        </p:nvSpPr>
        <p:spPr>
          <a:xfrm>
            <a:off x="548640" y="3712464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69417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" y="359359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Both sides, one product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3639312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Students ship applications and pros ship shortlists in the same app. Every action on one side creates a signal on the other.</a:t>
            </a:r>
          </a:p>
        </p:txBody>
      </p:sp>
      <p:sp>
        <p:nvSpPr>
          <p:cNvPr id="47" name="Oval 46"/>
          <p:cNvSpPr/>
          <p:nvPr/>
        </p:nvSpPr>
        <p:spPr>
          <a:xfrm>
            <a:off x="548640" y="4654296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6360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4535424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Judges can break 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37760" y="4581144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Change your skills → the app re-personalises live. Upload a real PDF → owners see it in the pipeline. Move a status → applicant is notified.</a:t>
            </a:r>
          </a:p>
        </p:txBody>
      </p:sp>
      <p:sp>
        <p:nvSpPr>
          <p:cNvPr id="51" name="Oval 50"/>
          <p:cNvSpPr/>
          <p:nvPr/>
        </p:nvSpPr>
        <p:spPr>
          <a:xfrm>
            <a:off x="548640" y="5596128"/>
            <a:ext cx="320040" cy="320040"/>
          </a:xfrm>
          <a:prstGeom prst="ellipse">
            <a:avLst/>
          </a:prstGeom>
          <a:noFill/>
          <a:ln w="1524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577840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6E4EE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5477256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6F7FB"/>
                </a:solidFill>
                <a:latin typeface="Calibri"/>
              </a:rPr>
              <a:t>Production-lean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5522976"/>
            <a:ext cx="6675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9299AD"/>
                </a:solidFill>
                <a:latin typeface="Calibri"/>
              </a:rPr>
              <a:t>10 seeded opportunities, deterministic match, real object storage, real email API, 18 backend tests, 0 console errors.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09 · WHAT’S 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09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From hackathon to platform.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37033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2880360"/>
            <a:ext cx="3703320" cy="54864"/>
          </a:xfrm>
          <a:prstGeom prst="rect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NOW</a:t>
            </a:r>
          </a:p>
        </p:txBody>
      </p:sp>
      <p:sp>
        <p:nvSpPr>
          <p:cNvPr id="42" name="Oval 41"/>
          <p:cNvSpPr/>
          <p:nvPr/>
        </p:nvSpPr>
        <p:spPr>
          <a:xfrm>
            <a:off x="822960" y="370332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Two-sided demo ready</a:t>
            </a:r>
          </a:p>
        </p:txBody>
      </p:sp>
      <p:sp>
        <p:nvSpPr>
          <p:cNvPr id="44" name="Oval 43"/>
          <p:cNvSpPr/>
          <p:nvPr/>
        </p:nvSpPr>
        <p:spPr>
          <a:xfrm>
            <a:off x="822960" y="420624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160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Real object storage + email</a:t>
            </a:r>
          </a:p>
        </p:txBody>
      </p:sp>
      <p:sp>
        <p:nvSpPr>
          <p:cNvPr id="46" name="Oval 45"/>
          <p:cNvSpPr/>
          <p:nvPr/>
        </p:nvSpPr>
        <p:spPr>
          <a:xfrm>
            <a:off x="822960" y="470916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663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Deterministic AI match</a:t>
            </a:r>
          </a:p>
        </p:txBody>
      </p:sp>
      <p:sp>
        <p:nvSpPr>
          <p:cNvPr id="48" name="Oval 47"/>
          <p:cNvSpPr/>
          <p:nvPr/>
        </p:nvSpPr>
        <p:spPr>
          <a:xfrm>
            <a:off x="822960" y="5212080"/>
            <a:ext cx="164592" cy="164592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166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Full application pipeline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880360"/>
            <a:ext cx="37033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0" y="2880360"/>
            <a:ext cx="3703320" cy="54864"/>
          </a:xfrm>
          <a:prstGeom prst="rect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6344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9A7AFF"/>
                </a:solidFill>
                <a:latin typeface="Consolas"/>
              </a:rPr>
              <a:t>NEXT 4 WEEKS</a:t>
            </a:r>
          </a:p>
        </p:txBody>
      </p:sp>
      <p:sp>
        <p:nvSpPr>
          <p:cNvPr id="53" name="Oval 52"/>
          <p:cNvSpPr/>
          <p:nvPr/>
        </p:nvSpPr>
        <p:spPr>
          <a:xfrm>
            <a:off x="4663440" y="370332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6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Session-based auth + Google OAuth</a:t>
            </a:r>
          </a:p>
        </p:txBody>
      </p:sp>
      <p:sp>
        <p:nvSpPr>
          <p:cNvPr id="55" name="Oval 54"/>
          <p:cNvSpPr/>
          <p:nvPr/>
        </p:nvSpPr>
        <p:spPr>
          <a:xfrm>
            <a:off x="4663440" y="420624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37760" y="4160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Verified sender domain for Resend</a:t>
            </a:r>
          </a:p>
        </p:txBody>
      </p:sp>
      <p:sp>
        <p:nvSpPr>
          <p:cNvPr id="57" name="Oval 56"/>
          <p:cNvSpPr/>
          <p:nvPr/>
        </p:nvSpPr>
        <p:spPr>
          <a:xfrm>
            <a:off x="4663440" y="470916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0" y="4663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Recruiter messaging inline</a:t>
            </a:r>
          </a:p>
        </p:txBody>
      </p:sp>
      <p:sp>
        <p:nvSpPr>
          <p:cNvPr id="59" name="Oval 58"/>
          <p:cNvSpPr/>
          <p:nvPr/>
        </p:nvSpPr>
        <p:spPr>
          <a:xfrm>
            <a:off x="4663440" y="5212080"/>
            <a:ext cx="164592" cy="164592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5166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Public shareable profile URL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2880360"/>
            <a:ext cx="3703320" cy="329184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2880360"/>
            <a:ext cx="3703320" cy="54864"/>
          </a:xfrm>
          <a:prstGeom prst="rect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31546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F78AD5"/>
                </a:solidFill>
                <a:latin typeface="Consolas"/>
              </a:rPr>
              <a:t>NEXT 6 MONTHS</a:t>
            </a:r>
          </a:p>
        </p:txBody>
      </p:sp>
      <p:sp>
        <p:nvSpPr>
          <p:cNvPr id="64" name="Oval 63"/>
          <p:cNvSpPr/>
          <p:nvPr/>
        </p:nvSpPr>
        <p:spPr>
          <a:xfrm>
            <a:off x="8503920" y="370332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78240" y="36576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Interview scheduler</a:t>
            </a:r>
          </a:p>
        </p:txBody>
      </p:sp>
      <p:sp>
        <p:nvSpPr>
          <p:cNvPr id="66" name="Oval 65"/>
          <p:cNvSpPr/>
          <p:nvPr/>
        </p:nvSpPr>
        <p:spPr>
          <a:xfrm>
            <a:off x="8503920" y="420624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416052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Skill assessments (auto-verified)</a:t>
            </a:r>
          </a:p>
        </p:txBody>
      </p:sp>
      <p:sp>
        <p:nvSpPr>
          <p:cNvPr id="68" name="Oval 67"/>
          <p:cNvSpPr/>
          <p:nvPr/>
        </p:nvSpPr>
        <p:spPr>
          <a:xfrm>
            <a:off x="8503920" y="470916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78240" y="4663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Team dashboards for colleges</a:t>
            </a:r>
          </a:p>
        </p:txBody>
      </p:sp>
      <p:sp>
        <p:nvSpPr>
          <p:cNvPr id="70" name="Oval 69"/>
          <p:cNvSpPr/>
          <p:nvPr/>
        </p:nvSpPr>
        <p:spPr>
          <a:xfrm>
            <a:off x="8503920" y="5212080"/>
            <a:ext cx="164592" cy="164592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78240" y="516636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F6F7FB"/>
                </a:solidFill>
                <a:latin typeface="Calibri"/>
              </a:rPr>
              <a:t>Freelance escrow (Stripe)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20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1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1615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2801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1920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5603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2004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840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4805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51206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5760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iamond 31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10 · THE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10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180">
                <a:solidFill>
                  <a:srgbClr val="9299AD"/>
                </a:solidFill>
                <a:latin typeface="Consolas"/>
              </a:rPr>
              <a:t>SKILLBRIDGE  ·  BRIDGE YOUR SKILLS. DISCOVER YOUR OPPORTUNITIES.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173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6F7FB"/>
                </a:solidFill>
                <a:latin typeface="Calibri"/>
              </a:rPr>
              <a:t>Small team. Full stack. One sprint.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2880360"/>
            <a:ext cx="2670733" cy="310896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3337560"/>
            <a:ext cx="1463040" cy="1463040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7947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80A12"/>
                </a:solidFill>
                <a:latin typeface="Calibri"/>
              </a:rPr>
              <a:t>B1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02920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6F7FB"/>
                </a:solidFill>
                <a:latin typeface="Consolas"/>
              </a:rPr>
              <a:t>BUILDER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349240"/>
            <a:ext cx="21220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Full-stack lead — React, FastAPI, Mongo, tests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56533" y="2880360"/>
            <a:ext cx="2670733" cy="310896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76573" y="3337560"/>
            <a:ext cx="1463040" cy="1463040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6573" y="37947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80A12"/>
                </a:solidFill>
                <a:latin typeface="Calibri"/>
              </a:rPr>
              <a:t>B2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30853" y="502920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6F7FB"/>
                </a:solidFill>
                <a:latin typeface="Consolas"/>
              </a:rPr>
              <a:t>BUILDER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0853" y="5349240"/>
            <a:ext cx="21220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AI + product logic — match engine, personalisation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64427" y="2880360"/>
            <a:ext cx="2670733" cy="310896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84467" y="3337560"/>
            <a:ext cx="1463040" cy="1463040"/>
          </a:xfrm>
          <a:prstGeom prst="ellipse">
            <a:avLst/>
          </a:prstGeom>
          <a:solidFill>
            <a:srgbClr val="F78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4467" y="37947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80A12"/>
                </a:solidFill>
                <a:latin typeface="Calibri"/>
              </a:rPr>
              <a:t>B3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8747" y="502920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6F7FB"/>
                </a:solidFill>
                <a:latin typeface="Consolas"/>
              </a:rPr>
              <a:t>BUILDER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8747" y="5349240"/>
            <a:ext cx="21220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Design &amp; motion — dark-mode system, animations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72321" y="2880360"/>
            <a:ext cx="2670733" cy="3108960"/>
          </a:xfrm>
          <a:prstGeom prst="rect">
            <a:avLst/>
          </a:prstGeom>
          <a:solidFill>
            <a:srgbClr val="141A2B"/>
          </a:solidFill>
          <a:ln w="9525">
            <a:solidFill>
              <a:srgbClr val="2A3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292361" y="3337560"/>
            <a:ext cx="1463040" cy="1463040"/>
          </a:xfrm>
          <a:prstGeom prst="ellipse">
            <a:avLst/>
          </a:prstGeom>
          <a:solidFill>
            <a:srgbClr val="F4B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2361" y="37947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80A12"/>
                </a:solidFill>
                <a:latin typeface="Calibri"/>
              </a:rPr>
              <a:t>B4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6641" y="5029200"/>
            <a:ext cx="212209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6F7FB"/>
                </a:solidFill>
                <a:latin typeface="Consolas"/>
              </a:rPr>
              <a:t>BUILDER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46641" y="5349240"/>
            <a:ext cx="212209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9299AD"/>
                </a:solidFill>
                <a:latin typeface="Calibri"/>
              </a:rPr>
              <a:t>Integrations — Resend email, object storage, deploys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140">
                <a:solidFill>
                  <a:srgbClr val="9299AD"/>
                </a:solidFill>
                <a:latin typeface="Consolas"/>
              </a:rPr>
              <a:t>Replace with your teammates’ names, roles and photos before presenting.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17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089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634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406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2688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0412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8136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58600" y="0"/>
            <a:ext cx="4000" cy="6858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7772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5544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3317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10896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88620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66344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44068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91695" cy="4000"/>
          </a:xfrm>
          <a:prstGeom prst="rect">
            <a:avLst/>
          </a:prstGeom>
          <a:solidFill>
            <a:srgbClr val="14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1645920"/>
            <a:ext cx="3474720" cy="3474720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18320" y="5029200"/>
            <a:ext cx="3474720" cy="3474720"/>
          </a:xfrm>
          <a:prstGeom prst="ellipse">
            <a:avLst/>
          </a:prstGeom>
          <a:solidFill>
            <a:srgbClr val="66E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548640" y="411480"/>
            <a:ext cx="411480" cy="411480"/>
          </a:xfrm>
          <a:prstGeom prst="diamond">
            <a:avLst/>
          </a:prstGeom>
          <a:noFill/>
          <a:ln w="17780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4927" y="527767"/>
            <a:ext cx="178904" cy="178904"/>
          </a:xfrm>
          <a:prstGeom prst="ellipse">
            <a:avLst/>
          </a:prstGeom>
          <a:solidFill>
            <a:srgbClr val="9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31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180">
                <a:solidFill>
                  <a:srgbClr val="F6F7FB"/>
                </a:solidFill>
                <a:latin typeface="Calibri"/>
              </a:rPr>
              <a:t/>
            </a:r>
            <a:r>
              <a:rPr sz="1300" b="1" spc="220">
                <a:solidFill>
                  <a:srgbClr val="F6F7FB"/>
                </a:solidFill>
                <a:latin typeface="Calibri"/>
              </a:rPr>
              <a:t>SKILL</a:t>
            </a:r>
            <a:r>
              <a:rPr sz="1300" b="1" spc="220">
                <a:solidFill>
                  <a:srgbClr val="66E4EE"/>
                </a:solidFill>
                <a:latin typeface="Calibri"/>
              </a:rPr>
              <a:t>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TRY IT · ASK US · JUDGE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514600"/>
            <a:ext cx="8595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</a:pPr>
            <a:r>
              <a:rPr sz="7200" b="1">
                <a:solidFill>
                  <a:srgbClr val="F6F7FB"/>
                </a:solidFill>
                <a:latin typeface="Calibri"/>
              </a:rPr>
              <a:t>Bridge your skills.</a:t>
            </a:r>
          </a:p>
          <a:p>
            <a:pPr>
              <a:lnSpc>
                <a:spcPct val="102000"/>
              </a:lnSpc>
            </a:pPr>
            <a:r>
              <a:rPr sz="4800" b="1">
                <a:solidFill>
                  <a:srgbClr val="F6F7FB"/>
                </a:solidFill>
                <a:latin typeface="Calibri"/>
              </a:rPr>
              <a:t>We built the bridge. </a:t>
            </a:r>
            <a:r>
              <a:rPr sz="4800" b="1">
                <a:solidFill>
                  <a:srgbClr val="9A7AFF"/>
                </a:solidFill>
                <a:latin typeface="Calibri"/>
              </a:rPr>
              <a:t>Ready to walk 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3949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299AD"/>
                </a:solidFill>
                <a:latin typeface="Calibri"/>
              </a:rPr>
              <a:t>Live demo · Student aarav@demo.com · Professional maya@demo.com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035040"/>
            <a:ext cx="201168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66E4EE"/>
                </a:solidFill>
                <a:latin typeface="Consolas"/>
              </a:rPr>
              <a:t>TRY THE DEMO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6035040"/>
            <a:ext cx="256032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9A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9A7AFF"/>
                </a:solidFill>
                <a:latin typeface="Consolas"/>
              </a:rPr>
              <a:t>QUESTIONS · WELCOME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6035040"/>
            <a:ext cx="2194560" cy="292608"/>
          </a:xfrm>
          <a:prstGeom prst="roundRect">
            <a:avLst/>
          </a:prstGeom>
          <a:solidFill>
            <a:srgbClr val="101F27"/>
          </a:solidFill>
          <a:ln w="9525">
            <a:solidFill>
              <a:srgbClr val="F78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78AD5"/>
                </a:solidFill>
                <a:latin typeface="Consolas"/>
              </a:rPr>
              <a:t>THANK YOU · JUDGES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331720"/>
            <a:ext cx="2468880" cy="3566160"/>
          </a:xfrm>
          <a:prstGeom prst="rect">
            <a:avLst/>
          </a:prstGeom>
          <a:solidFill>
            <a:srgbClr val="111522"/>
          </a:solidFill>
          <a:ln w="9525">
            <a:solidFill>
              <a:srgbClr val="66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25603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180">
                <a:solidFill>
                  <a:srgbClr val="66E4EE"/>
                </a:solidFill>
                <a:latin typeface="Consolas"/>
              </a:rPr>
              <a:t>SCAN · OPEN ON YOUR PHONE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2971800"/>
            <a:ext cx="1828800" cy="18288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_qr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063240"/>
            <a:ext cx="1645920" cy="164592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09760" y="4937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6F7FB"/>
                </a:solidFill>
                <a:latin typeface="Calibri"/>
              </a:rPr>
              <a:t>Try it while we talk.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2578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100">
                <a:solidFill>
                  <a:srgbClr val="66E4EE"/>
                </a:solidFill>
                <a:latin typeface="Consolas"/>
              </a:rPr>
              <a:t>ai-match-hub-10.preview.emergentagent.com/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120">
                <a:solidFill>
                  <a:srgbClr val="9299AD"/>
                </a:solidFill>
                <a:latin typeface="Consolas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
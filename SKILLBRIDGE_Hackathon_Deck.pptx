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54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331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08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86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406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49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26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04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6586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777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554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331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31089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38862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46634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54406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2179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686800" y="2011680"/>
            <a:ext cx="3291840" cy="3291840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01200" y="4572000"/>
            <a:ext cx="3291840" cy="3291840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5029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· AI HACKATHON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BRIDGE YOUR NEXT CHAPTER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514600"/>
            <a:ext cx="109728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2000"/>
              </a:lnSpc>
            </a:pPr>
            <a:r>
              <a:rPr sz="7200" b="1">
                <a:solidFill>
                  <a:srgbClr val="F6F7FB"/>
                </a:solidFill>
                <a:latin typeface="Calibri"/>
              </a:rPr>
              <a:t>Bridge your skills.</a:t>
            </a:r>
          </a:p>
          <a:p>
            <a:pPr>
              <a:lnSpc>
                <a:spcPct val="102000"/>
              </a:lnSpc>
            </a:pPr>
            <a:r>
              <a:rPr sz="7200" b="1">
                <a:solidFill>
                  <a:srgbClr val="9A7AFF"/>
                </a:solidFill>
                <a:latin typeface="Calibri"/>
              </a:rPr>
              <a:t>Discover </a:t>
            </a:r>
            <a:r>
              <a:rPr sz="7200" b="1">
                <a:solidFill>
                  <a:srgbClr val="F6F7FB"/>
                </a:solidFill>
                <a:latin typeface="Calibri"/>
              </a:rPr>
              <a:t>your opportunities.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864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299AD"/>
                </a:solidFill>
                <a:latin typeface="Calibri"/>
              </a:rPr>
              <a:t>AI-powered opportunities built around what you can do.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6126480"/>
            <a:ext cx="1737360" cy="292608"/>
          </a:xfrm>
          <a:prstGeom prst="roundRect">
            <a:avLst/>
          </a:prstGeom>
          <a:solidFill>
            <a:srgbClr val="101F27"/>
          </a:solidFill>
          <a:ln w="9525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66E4EE"/>
                </a:solidFill>
                <a:latin typeface="Consolas"/>
              </a:rPr>
              <a:t>AI SKILL MATCH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68880" y="6126480"/>
            <a:ext cx="1920240" cy="292608"/>
          </a:xfrm>
          <a:prstGeom prst="roundRect">
            <a:avLst/>
          </a:prstGeom>
          <a:solidFill>
            <a:srgbClr val="101F27"/>
          </a:solidFill>
          <a:ln w="9525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9A7AFF"/>
                </a:solidFill>
                <a:latin typeface="Consolas"/>
              </a:rPr>
              <a:t>STUDENTS + PROS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0" y="6126480"/>
            <a:ext cx="1920240" cy="292608"/>
          </a:xfrm>
          <a:prstGeom prst="roundRect">
            <a:avLst/>
          </a:prstGeom>
          <a:solidFill>
            <a:srgbClr val="101F27"/>
          </a:solidFill>
          <a:ln w="9525">
            <a:solidFill>
              <a:srgbClr val="F78A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78AD5"/>
                </a:solidFill>
                <a:latin typeface="Consolas"/>
              </a:rPr>
              <a:t>HIRING PIPELINE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1264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spc="180">
                <a:solidFill>
                  <a:srgbClr val="9299AD"/>
                </a:solidFill>
                <a:latin typeface="Consolas"/>
              </a:rPr>
              <a:t>Team ·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01 · THE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01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400" b="1">
                <a:solidFill>
                  <a:srgbClr val="F6F7FB"/>
                </a:solidFill>
                <a:latin typeface="Calibri"/>
              </a:rPr>
              <a:t>Talent and opportunity</a:t>
            </a:r>
          </a:p>
          <a:p>
            <a:pPr algn="l">
              <a:lnSpc>
                <a:spcPct val="102000"/>
              </a:lnSpc>
            </a:pPr>
            <a:r>
              <a:rPr sz="5400" b="1">
                <a:solidFill>
                  <a:srgbClr val="F6F7FB"/>
                </a:solidFill>
                <a:latin typeface="Calibri"/>
              </a:rPr>
              <a:t>keep missing each other.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840480"/>
            <a:ext cx="3703320" cy="22860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3840480"/>
            <a:ext cx="3703320" cy="45720"/>
          </a:xfrm>
          <a:prstGeom prst="rect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41605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6F7FB"/>
                </a:solidFill>
                <a:latin typeface="Calibri"/>
              </a:rPr>
              <a:t>Generic listings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46634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299AD"/>
                </a:solidFill>
                <a:latin typeface="Calibri"/>
              </a:rPr>
              <a:t>Students scroll past hundreds of roles they don’t fit.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9299AD"/>
                </a:solidFill>
                <a:latin typeface="Calibri"/>
              </a:rPr>
              <a:t>Relevance is buried inside filters that need a resume they don’t have yet.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0" y="3840480"/>
            <a:ext cx="3703320" cy="22860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89120" y="3840480"/>
            <a:ext cx="3703320" cy="45720"/>
          </a:xfrm>
          <a:prstGeom prst="rect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63440" y="41605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6F7FB"/>
                </a:solidFill>
                <a:latin typeface="Calibri"/>
              </a:rPr>
              <a:t>Skills go invisible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6634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299AD"/>
                </a:solidFill>
                <a:latin typeface="Calibri"/>
              </a:rPr>
              <a:t>Freelancers and skilled professionals waste hours proving what a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9299AD"/>
                </a:solidFill>
                <a:latin typeface="Calibri"/>
              </a:rPr>
              <a:t>2-line search bar cannot see — projects, side wins, portfolios.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3840480"/>
            <a:ext cx="3703320" cy="22860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29600" y="3840480"/>
            <a:ext cx="3703320" cy="45720"/>
          </a:xfrm>
          <a:prstGeom prst="rect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03920" y="41605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6F7FB"/>
                </a:solidFill>
                <a:latin typeface="Calibri"/>
              </a:rPr>
              <a:t>Hiring is fragmented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46634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299AD"/>
                </a:solidFill>
                <a:latin typeface="Calibri"/>
              </a:rPr>
              <a:t>Owners of internships and freelance briefs juggle inboxes, forms and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9299AD"/>
                </a:solidFill>
                <a:latin typeface="Calibri"/>
              </a:rPr>
              <a:t>spreadsheets — no clean pipeline from applicant to shortlist.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02 · THE SOLUTION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02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6F7FB"/>
                </a:solidFill>
                <a:latin typeface="Calibri"/>
              </a:rPr>
              <a:t>One AI-powered bridge.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F6F7FB"/>
                </a:solidFill>
                <a:latin typeface="Calibri"/>
              </a:rPr>
              <a:t>Both sides of the market.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38328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9299AD"/>
                </a:solidFill>
                <a:latin typeface="Calibri"/>
              </a:rPr>
              <a:t>SKILLBRIDGE learns what a person can actually do — skills, interests,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9299AD"/>
                </a:solidFill>
                <a:latin typeface="Calibri"/>
              </a:rPr>
              <a:t>portfolio, past applications — and matches them to the opportunities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9299AD"/>
                </a:solidFill>
                <a:latin typeface="Calibri"/>
              </a:rPr>
              <a:t>where they will meaningfully show up.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9299AD"/>
                </a:solidFill>
                <a:latin typeface="Calibr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9299AD"/>
                </a:solidFill>
                <a:latin typeface="Calibri"/>
              </a:rPr>
              <a:t>For students it removes the noise. For professionals it surfaces work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9299AD"/>
                </a:solidFill>
                <a:latin typeface="Calibri"/>
              </a:rPr>
              <a:t>worth their craft. For owners it turns an inbox into a pipeline.</a:t>
            </a:r>
          </a:p>
        </p:txBody>
      </p:sp>
      <p:sp>
        <p:nvSpPr>
          <p:cNvPr id="40" name="Oval 39"/>
          <p:cNvSpPr/>
          <p:nvPr/>
        </p:nvSpPr>
        <p:spPr>
          <a:xfrm>
            <a:off x="8778240" y="3703320"/>
            <a:ext cx="2194560" cy="2194560"/>
          </a:xfrm>
          <a:prstGeom prst="ellipse">
            <a:avLst/>
          </a:prstGeom>
          <a:solidFill>
            <a:srgbClr val="141A2B"/>
          </a:solidFill>
          <a:ln w="19050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458200" y="3383280"/>
            <a:ext cx="2834640" cy="2834640"/>
          </a:xfrm>
          <a:prstGeom prst="ellipse">
            <a:avLst/>
          </a:prstGeom>
          <a:noFill/>
          <a:ln w="6350">
            <a:solidFill>
              <a:srgbClr val="66E4E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138160" y="3063240"/>
            <a:ext cx="3474720" cy="3474720"/>
          </a:xfrm>
          <a:prstGeom prst="ellipse">
            <a:avLst/>
          </a:prstGeom>
          <a:noFill/>
          <a:ln w="6350">
            <a:solidFill>
              <a:srgbClr val="66E4E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0" y="438912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AI SKILL MATCH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466344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6F7FB"/>
                </a:solidFill>
                <a:latin typeface="Calibri"/>
              </a:rPr>
              <a:t>89%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03 · WHAT WE BUILT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6F7FB"/>
                </a:solidFill>
                <a:latin typeface="Calibri"/>
              </a:rPr>
              <a:t>Everything you need for a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6F7FB"/>
                </a:solidFill>
                <a:latin typeface="Calibri"/>
              </a:rPr>
              <a:t>full two-sided demo.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24612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7240" y="3502152"/>
            <a:ext cx="146304" cy="1463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344728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Role 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388620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Student / Skilled Professional flow with tailored onboarding.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67963" y="324612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596563" y="3502152"/>
            <a:ext cx="146304" cy="146304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70883" y="344728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AI Skill Match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6563" y="388620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Deterministic overlap scoring · Home + Dashboard + Skill Match page.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87287" y="324612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415887" y="3502152"/>
            <a:ext cx="146304" cy="146304"/>
          </a:xfrm>
          <a:prstGeom prst="ellipse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90207" y="344728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Personalised Feed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15887" y="388620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Opportunities ranked by user skills, interests and goals.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06611" y="324612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35211" y="3502152"/>
            <a:ext cx="146304" cy="146304"/>
          </a:xfrm>
          <a:prstGeom prst="ellipse">
            <a:avLst/>
          </a:prstGeom>
          <a:solidFill>
            <a:srgbClr val="F4B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09531" y="344728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Application Flow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5211" y="388620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Multi-step Apply · Resume · Cover letter · Instant success.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480060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77240" y="5056632"/>
            <a:ext cx="146304" cy="146304"/>
          </a:xfrm>
          <a:prstGeom prst="ellipse">
            <a:avLst/>
          </a:prstGeom>
          <a:solidFill>
            <a:srgbClr val="4FD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" y="500176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Applicant Pipeline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240" y="544068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Owners review applicants, move Applied → Shortlisted → Selected.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367963" y="480060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596563" y="5056632"/>
            <a:ext cx="146304" cy="1463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70883" y="500176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Portfolio Uploads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6563" y="544068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PDF / images via Emergent Object Storage — served through API.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87287" y="480060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415887" y="5056632"/>
            <a:ext cx="146304" cy="146304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90207" y="500176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Notification Bell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15887" y="544068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Live popover · Unread dot · Mark-all-read · Deep link inbox.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06611" y="480060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235211" y="5056632"/>
            <a:ext cx="146304" cy="146304"/>
          </a:xfrm>
          <a:prstGeom prst="ellipse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09531" y="500176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Real Reset Email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35211" y="544068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Resend integration · Branded HTML · Sandbox-aware fallback.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04 · THE AI MATCH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04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F6F7FB"/>
                </a:solidFill>
                <a:latin typeface="Calibri"/>
              </a:rPr>
              <a:t>Deterministic, explainable,</a:t>
            </a:r>
          </a:p>
          <a:p>
            <a:pPr algn="l">
              <a:lnSpc>
                <a:spcPct val="105000"/>
              </a:lnSpc>
            </a:pPr>
            <a:r>
              <a:rPr sz="4200" b="1">
                <a:solidFill>
                  <a:srgbClr val="F6F7FB"/>
                </a:solidFill>
                <a:latin typeface="Calibri"/>
              </a:rPr>
              <a:t>fast enough to feel magical.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291840"/>
            <a:ext cx="6400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>Same input → same score. No black-box tricks.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>•  Overlap ratio between user skills and role skills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>•  +10 pt bonus when 2+ skills align (signal, not luck)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>•  Boosts for interest + goal alignment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>•  Clamped 38 – 99 so no score feels fake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>Every match on Home, Dashboard and Detail is computed live from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>the user’s profile. Edit a skill → the whole app re-personalises.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0" y="3017520"/>
            <a:ext cx="3840480" cy="3017520"/>
          </a:xfrm>
          <a:prstGeom prst="rect">
            <a:avLst/>
          </a:prstGeom>
          <a:solidFill>
            <a:srgbClr val="141A2B"/>
          </a:solidFill>
          <a:ln w="9525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38160" y="32918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AI SKILL MATCH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352044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F6F7FB"/>
                </a:solidFill>
                <a:latin typeface="Calibri"/>
              </a:rPr>
              <a:t>89%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470916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6F7FB"/>
                </a:solidFill>
                <a:latin typeface="Calibri"/>
              </a:rPr>
              <a:t>React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470916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6E4EE"/>
                </a:solidFill>
                <a:latin typeface="Consolas"/>
              </a:rPr>
              <a:t>94%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35440" y="4754880"/>
            <a:ext cx="1645920" cy="118872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235440" y="4754880"/>
            <a:ext cx="1547164" cy="118872"/>
          </a:xfrm>
          <a:prstGeom prst="rect">
            <a:avLst/>
          </a:prstGeom>
          <a:solidFill>
            <a:srgbClr val="4FD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0" y="50017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6F7FB"/>
                </a:solidFill>
                <a:latin typeface="Calibri"/>
              </a:rPr>
              <a:t>JavaScript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5001768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6E4EE"/>
                </a:solidFill>
                <a:latin typeface="Consolas"/>
              </a:rPr>
              <a:t>88%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35440" y="5047488"/>
            <a:ext cx="1645920" cy="118872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35440" y="5047488"/>
            <a:ext cx="1448409" cy="118872"/>
          </a:xfrm>
          <a:prstGeom prst="rect">
            <a:avLst/>
          </a:prstGeom>
          <a:solidFill>
            <a:srgbClr val="4FD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38160" y="529437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6F7FB"/>
                </a:solidFill>
                <a:latin typeface="Calibri"/>
              </a:rPr>
              <a:t>UI/UX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0" y="529437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6E4EE"/>
                </a:solidFill>
                <a:latin typeface="Consolas"/>
              </a:rPr>
              <a:t>76%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35440" y="5340096"/>
            <a:ext cx="1645920" cy="118872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235440" y="5340096"/>
            <a:ext cx="1250899" cy="118872"/>
          </a:xfrm>
          <a:prstGeom prst="rect">
            <a:avLst/>
          </a:prstGeom>
          <a:solidFill>
            <a:srgbClr val="F4B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38160" y="5586984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6F7FB"/>
                </a:solidFill>
                <a:latin typeface="Calibri"/>
              </a:rPr>
              <a:t>TypeScript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558698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6E4EE"/>
                </a:solidFill>
                <a:latin typeface="Consolas"/>
              </a:rPr>
              <a:t>42%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35440" y="5632704"/>
            <a:ext cx="1645920" cy="118872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35440" y="5632704"/>
            <a:ext cx="691286" cy="118872"/>
          </a:xfrm>
          <a:prstGeom prst="rect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05 · THE DEMO JOURNEY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05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6F7FB"/>
                </a:solidFill>
                <a:latin typeface="Calibri"/>
              </a:rPr>
              <a:t>A full loop in under two minutes.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2880360"/>
            <a:ext cx="5532120" cy="329184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2880360"/>
            <a:ext cx="54864" cy="3291840"/>
          </a:xfrm>
          <a:prstGeom prst="rect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3108960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9A7AFF"/>
                </a:solidFill>
                <a:latin typeface="Consolas"/>
              </a:rPr>
              <a:t>STUDENT · AARAV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" y="3566160"/>
            <a:ext cx="292608" cy="292608"/>
          </a:xfrm>
          <a:prstGeom prst="ellipse">
            <a:avLst/>
          </a:prstGeom>
          <a:noFill/>
          <a:ln w="12700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54787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9A7AFF"/>
                </a:solidFill>
                <a:latin typeface="Calibr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" y="359359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Role selection · Continue as Student</a:t>
            </a:r>
          </a:p>
        </p:txBody>
      </p:sp>
      <p:sp>
        <p:nvSpPr>
          <p:cNvPr id="45" name="Oval 44"/>
          <p:cNvSpPr/>
          <p:nvPr/>
        </p:nvSpPr>
        <p:spPr>
          <a:xfrm>
            <a:off x="868680" y="4069080"/>
            <a:ext cx="292608" cy="292608"/>
          </a:xfrm>
          <a:prstGeom prst="ellipse">
            <a:avLst/>
          </a:prstGeom>
          <a:noFill/>
          <a:ln w="12700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40507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9A7A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5880" y="409651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Demo access · Onboarding (skills, interests, goal)</a:t>
            </a:r>
          </a:p>
        </p:txBody>
      </p:sp>
      <p:sp>
        <p:nvSpPr>
          <p:cNvPr id="48" name="Oval 47"/>
          <p:cNvSpPr/>
          <p:nvPr/>
        </p:nvSpPr>
        <p:spPr>
          <a:xfrm>
            <a:off x="868680" y="4572000"/>
            <a:ext cx="292608" cy="292608"/>
          </a:xfrm>
          <a:prstGeom prst="ellipse">
            <a:avLst/>
          </a:prstGeom>
          <a:noFill/>
          <a:ln w="12700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455371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9A7AFF"/>
                </a:solidFill>
                <a:latin typeface="Calibri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25880" y="459943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Home shows personalised match + top 3 opportunities</a:t>
            </a:r>
          </a:p>
        </p:txBody>
      </p:sp>
      <p:sp>
        <p:nvSpPr>
          <p:cNvPr id="51" name="Oval 50"/>
          <p:cNvSpPr/>
          <p:nvPr/>
        </p:nvSpPr>
        <p:spPr>
          <a:xfrm>
            <a:off x="868680" y="5074920"/>
            <a:ext cx="292608" cy="292608"/>
          </a:xfrm>
          <a:prstGeom prst="ellipse">
            <a:avLst/>
          </a:prstGeom>
          <a:noFill/>
          <a:ln w="12700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8680" y="505663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9A7AFF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25880" y="51023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Open Frontend Dev Intern · Apply flow · Submit</a:t>
            </a:r>
          </a:p>
        </p:txBody>
      </p:sp>
      <p:sp>
        <p:nvSpPr>
          <p:cNvPr id="54" name="Oval 53"/>
          <p:cNvSpPr/>
          <p:nvPr/>
        </p:nvSpPr>
        <p:spPr>
          <a:xfrm>
            <a:off x="868680" y="5577840"/>
            <a:ext cx="292608" cy="292608"/>
          </a:xfrm>
          <a:prstGeom prst="ellipse">
            <a:avLst/>
          </a:prstGeom>
          <a:noFill/>
          <a:ln w="12700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8680" y="555955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9A7AFF"/>
                </a:solidFill>
                <a:latin typeface="Calibr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25880" y="560527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Application appears in My Applications instantly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2880360"/>
            <a:ext cx="5532120" cy="329184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63640" y="2880360"/>
            <a:ext cx="54864" cy="3291840"/>
          </a:xfrm>
          <a:prstGeom prst="rect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0" y="3108960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PROFESSIONAL · MAYA (OWNER)</a:t>
            </a:r>
          </a:p>
        </p:txBody>
      </p:sp>
      <p:sp>
        <p:nvSpPr>
          <p:cNvPr id="60" name="Oval 59"/>
          <p:cNvSpPr/>
          <p:nvPr/>
        </p:nvSpPr>
        <p:spPr>
          <a:xfrm>
            <a:off x="6583680" y="3566160"/>
            <a:ext cx="292608" cy="292608"/>
          </a:xfrm>
          <a:prstGeom prst="ellipse">
            <a:avLst/>
          </a:prstGeom>
          <a:noFill/>
          <a:ln w="1270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354787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0880" y="359359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Enter demo as Skilled Professional</a:t>
            </a:r>
          </a:p>
        </p:txBody>
      </p:sp>
      <p:sp>
        <p:nvSpPr>
          <p:cNvPr id="63" name="Oval 62"/>
          <p:cNvSpPr/>
          <p:nvPr/>
        </p:nvSpPr>
        <p:spPr>
          <a:xfrm>
            <a:off x="6583680" y="4069080"/>
            <a:ext cx="292608" cy="292608"/>
          </a:xfrm>
          <a:prstGeom prst="ellipse">
            <a:avLst/>
          </a:prstGeom>
          <a:noFill/>
          <a:ln w="1270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83680" y="40507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0" y="409651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Tune profile · Upload portfolio PDF to storage</a:t>
            </a:r>
          </a:p>
        </p:txBody>
      </p:sp>
      <p:sp>
        <p:nvSpPr>
          <p:cNvPr id="66" name="Oval 65"/>
          <p:cNvSpPr/>
          <p:nvPr/>
        </p:nvSpPr>
        <p:spPr>
          <a:xfrm>
            <a:off x="6583680" y="4572000"/>
            <a:ext cx="292608" cy="292608"/>
          </a:xfrm>
          <a:prstGeom prst="ellipse">
            <a:avLst/>
          </a:prstGeom>
          <a:noFill/>
          <a:ln w="1270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0" y="455371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40880" y="459943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Workspace shows 7 owned opportunities with counts</a:t>
            </a:r>
          </a:p>
        </p:txBody>
      </p:sp>
      <p:sp>
        <p:nvSpPr>
          <p:cNvPr id="69" name="Oval 68"/>
          <p:cNvSpPr/>
          <p:nvPr/>
        </p:nvSpPr>
        <p:spPr>
          <a:xfrm>
            <a:off x="6583680" y="5074920"/>
            <a:ext cx="292608" cy="292608"/>
          </a:xfrm>
          <a:prstGeom prst="ellipse">
            <a:avLst/>
          </a:prstGeom>
          <a:noFill/>
          <a:ln w="1270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83680" y="505663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40880" y="51023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Review Applicants · See Aarav ranked by match score</a:t>
            </a:r>
          </a:p>
        </p:txBody>
      </p:sp>
      <p:sp>
        <p:nvSpPr>
          <p:cNvPr id="72" name="Oval 71"/>
          <p:cNvSpPr/>
          <p:nvPr/>
        </p:nvSpPr>
        <p:spPr>
          <a:xfrm>
            <a:off x="6583680" y="5577840"/>
            <a:ext cx="292608" cy="292608"/>
          </a:xfrm>
          <a:prstGeom prst="ellipse">
            <a:avLst/>
          </a:prstGeom>
          <a:noFill/>
          <a:ln w="1270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83680" y="555955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40880" y="560527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Move to Shortlisted → Aarav gets a live notification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06 · ARCHITECTURE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06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6F7FB"/>
                </a:solidFill>
                <a:latin typeface="Calibri"/>
              </a:rPr>
              <a:t>Small stack. Big product.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2880360"/>
            <a:ext cx="3703320" cy="32004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31546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9A7AFF"/>
                </a:solidFill>
                <a:latin typeface="Consolas"/>
              </a:rPr>
              <a:t>FRONTEND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352044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React 19 + React Router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Context-driven dynamic data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Deterministic match (mirror)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Skeletons + empty states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Tailwind-free custom CSS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0" y="2880360"/>
            <a:ext cx="3703320" cy="32004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31546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BACKEND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352044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FastAPI + Motor (async)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MongoDB collections: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 · users · opportunities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 · applications · saved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 · notifications · portfolio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Seeded opportunities on startup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2880360"/>
            <a:ext cx="3703320" cy="32004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31546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F78AD5"/>
                </a:solidFill>
                <a:latin typeface="Consolas"/>
              </a:rPr>
              <a:t>INTEGRATIONS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352044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Resend — real reset email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Emergent Object Storage —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   portfolio uploads (PDF / img)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Pydantic v2 payload models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CORS + supervisor-managed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6172200"/>
            <a:ext cx="2761488" cy="502920"/>
          </a:xfrm>
          <a:prstGeom prst="rect">
            <a:avLst/>
          </a:prstGeom>
          <a:solidFill>
            <a:srgbClr val="0E1220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2636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66E4EE"/>
                </a:solidFill>
                <a:latin typeface="Calibri"/>
              </a:rPr>
              <a:t>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" y="6291072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40">
                <a:solidFill>
                  <a:srgbClr val="9299AD"/>
                </a:solidFill>
                <a:latin typeface="Consolas"/>
              </a:rPr>
              <a:t>Pytest cases pass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19856" y="6172200"/>
            <a:ext cx="2761488" cy="502920"/>
          </a:xfrm>
          <a:prstGeom prst="rect">
            <a:avLst/>
          </a:prstGeom>
          <a:solidFill>
            <a:srgbClr val="0E1220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02736" y="62636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66E4EE"/>
                </a:solidFill>
                <a:latin typeface="Calibri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25696" y="6291072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40">
                <a:solidFill>
                  <a:srgbClr val="9299AD"/>
                </a:solidFill>
                <a:latin typeface="Consolas"/>
              </a:rPr>
              <a:t>Seeded opportunities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91072" y="6172200"/>
            <a:ext cx="2761488" cy="502920"/>
          </a:xfrm>
          <a:prstGeom prst="rect">
            <a:avLst/>
          </a:prstGeom>
          <a:solidFill>
            <a:srgbClr val="0E1220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73952" y="62636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66E4EE"/>
                </a:solidFill>
                <a:latin typeface="Calibr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96912" y="6291072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40">
                <a:solidFill>
                  <a:srgbClr val="9299AD"/>
                </a:solidFill>
                <a:latin typeface="Consolas"/>
              </a:rPr>
              <a:t>Application statuses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62288" y="6172200"/>
            <a:ext cx="2761488" cy="502920"/>
          </a:xfrm>
          <a:prstGeom prst="rect">
            <a:avLst/>
          </a:prstGeom>
          <a:solidFill>
            <a:srgbClr val="0E1220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45168" y="62636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66E4EE"/>
                </a:solidFill>
                <a:latin typeface="Calibri"/>
              </a:rPr>
              <a:t>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68128" y="6291072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40">
                <a:solidFill>
                  <a:srgbClr val="9299AD"/>
                </a:solidFill>
                <a:latin typeface="Consolas"/>
              </a:rPr>
              <a:t>Console errors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07 · THE PRODUCT · SCREENS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07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6F7FB"/>
                </a:solidFill>
                <a:latin typeface="Calibri"/>
              </a:rPr>
              <a:t>Real, working, live.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2880360"/>
            <a:ext cx="2670733" cy="32004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31520" y="3108960"/>
            <a:ext cx="2304973" cy="3657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3611880"/>
            <a:ext cx="2304973" cy="12801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749040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A7AFF"/>
                </a:solidFill>
                <a:latin typeface="Calibri"/>
              </a:rPr>
              <a:t>HOME · MATCH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" y="4251960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68680" y="4251960"/>
            <a:ext cx="1827588" cy="82296"/>
          </a:xfrm>
          <a:prstGeom prst="rect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8680" y="4453128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8680" y="4453128"/>
            <a:ext cx="1522990" cy="82296"/>
          </a:xfrm>
          <a:prstGeom prst="rect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8680" y="4654296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8680" y="4654296"/>
            <a:ext cx="1218392" cy="82296"/>
          </a:xfrm>
          <a:prstGeom prst="rect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5074920"/>
            <a:ext cx="221353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Dynamic score · strongest skill · next skill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Personalised top 3 opportunities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56533" y="2880360"/>
            <a:ext cx="2670733" cy="32004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539413" y="3108960"/>
            <a:ext cx="2304973" cy="3657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539413" y="3611880"/>
            <a:ext cx="2304973" cy="12801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85133" y="3749040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6E4EE"/>
                </a:solidFill>
                <a:latin typeface="Calibri"/>
              </a:rPr>
              <a:t>APPLY FLOW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76573" y="4251960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676573" y="4251960"/>
            <a:ext cx="1827588" cy="82296"/>
          </a:xfrm>
          <a:prstGeom prst="rect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76573" y="4453128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76573" y="4453128"/>
            <a:ext cx="1522990" cy="82296"/>
          </a:xfrm>
          <a:prstGeom prst="rect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76573" y="4654296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76573" y="4654296"/>
            <a:ext cx="1218392" cy="82296"/>
          </a:xfrm>
          <a:prstGeom prst="rect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85133" y="5074920"/>
            <a:ext cx="221353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4 steps · resume upload · cover letter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Success screen · applications updates live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64427" y="2880360"/>
            <a:ext cx="2670733" cy="32004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47307" y="3108960"/>
            <a:ext cx="2304973" cy="3657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347307" y="3611880"/>
            <a:ext cx="2304973" cy="12801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93027" y="3749040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78AD5"/>
                </a:solidFill>
                <a:latin typeface="Calibri"/>
              </a:rPr>
              <a:t>APPLICANT PIPELINE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84467" y="4251960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484467" y="4251960"/>
            <a:ext cx="1827588" cy="82296"/>
          </a:xfrm>
          <a:prstGeom prst="rect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84467" y="4453128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484467" y="4453128"/>
            <a:ext cx="1522990" cy="82296"/>
          </a:xfrm>
          <a:prstGeom prst="rect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484467" y="4654296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84467" y="4654296"/>
            <a:ext cx="1218392" cy="82296"/>
          </a:xfrm>
          <a:prstGeom prst="rect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93027" y="5074920"/>
            <a:ext cx="221353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Ranked by match · portfolio link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Status buttons write to DB + notify user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972321" y="2880360"/>
            <a:ext cx="2670733" cy="32004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155201" y="3108960"/>
            <a:ext cx="2304973" cy="3657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155201" y="3611880"/>
            <a:ext cx="2304973" cy="12801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200921" y="3749040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4BC6B"/>
                </a:solidFill>
                <a:latin typeface="Calibri"/>
              </a:rPr>
              <a:t>NOTIFICATION BELL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292361" y="4251960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292361" y="4251960"/>
            <a:ext cx="1827588" cy="82296"/>
          </a:xfrm>
          <a:prstGeom prst="rect">
            <a:avLst/>
          </a:prstGeom>
          <a:solidFill>
            <a:srgbClr val="F4B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292361" y="4453128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292361" y="4453128"/>
            <a:ext cx="1522990" cy="82296"/>
          </a:xfrm>
          <a:prstGeom prst="rect">
            <a:avLst/>
          </a:prstGeom>
          <a:solidFill>
            <a:srgbClr val="F4B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2361" y="4654296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92361" y="4654296"/>
            <a:ext cx="1218392" cy="82296"/>
          </a:xfrm>
          <a:prstGeom prst="rect">
            <a:avLst/>
          </a:prstGeom>
          <a:solidFill>
            <a:srgbClr val="F4B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00921" y="5074920"/>
            <a:ext cx="221353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Popover · unread dot · mark-all-read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Status changes appear in real time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08 · WHY IT WINS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08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6F7FB"/>
                </a:solidFill>
                <a:latin typeface="Calibri"/>
              </a:rPr>
              <a:t>Not another job board.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2862072"/>
            <a:ext cx="320040" cy="320040"/>
          </a:xfrm>
          <a:prstGeom prst="ellipse">
            <a:avLst/>
          </a:prstGeom>
          <a:noFill/>
          <a:ln w="1524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284378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27432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6F7FB"/>
                </a:solidFill>
                <a:latin typeface="Calibri"/>
              </a:rPr>
              <a:t>Personalisation everywhere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60" y="2834640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Match score isn’t hidden on one page — it drives Home, Dashboard, Skill Match, Detail and Applicant ranking. One user, one story.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3913632"/>
            <a:ext cx="320040" cy="320040"/>
          </a:xfrm>
          <a:prstGeom prst="ellipse">
            <a:avLst/>
          </a:prstGeom>
          <a:noFill/>
          <a:ln w="1524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89534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" y="37947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6F7FB"/>
                </a:solidFill>
                <a:latin typeface="Calibri"/>
              </a:rPr>
              <a:t>Both sides, one product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3886200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Students ship applications and pros ship shortlists in the same app. Every action on one side creates a signal on the other.</a:t>
            </a:r>
          </a:p>
        </p:txBody>
      </p:sp>
      <p:sp>
        <p:nvSpPr>
          <p:cNvPr id="47" name="Oval 46"/>
          <p:cNvSpPr/>
          <p:nvPr/>
        </p:nvSpPr>
        <p:spPr>
          <a:xfrm>
            <a:off x="548640" y="4965192"/>
            <a:ext cx="320040" cy="320040"/>
          </a:xfrm>
          <a:prstGeom prst="ellipse">
            <a:avLst/>
          </a:prstGeom>
          <a:noFill/>
          <a:ln w="1524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94690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846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6F7FB"/>
                </a:solidFill>
                <a:latin typeface="Calibri"/>
              </a:rPr>
              <a:t>Judges can break 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37760" y="4937760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Change your skills → the app re-personalises live. Upload a real PDF → owners see it in the pipeline. Move a status → applicant is notified.</a:t>
            </a:r>
          </a:p>
        </p:txBody>
      </p:sp>
      <p:sp>
        <p:nvSpPr>
          <p:cNvPr id="51" name="Oval 50"/>
          <p:cNvSpPr/>
          <p:nvPr/>
        </p:nvSpPr>
        <p:spPr>
          <a:xfrm>
            <a:off x="548640" y="6016752"/>
            <a:ext cx="320040" cy="320040"/>
          </a:xfrm>
          <a:prstGeom prst="ellipse">
            <a:avLst/>
          </a:prstGeom>
          <a:noFill/>
          <a:ln w="1524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99846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" y="5897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6F7FB"/>
                </a:solidFill>
                <a:latin typeface="Calibri"/>
              </a:rPr>
              <a:t>Production-lean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37760" y="5989320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10 seeded opportunities, deterministic match, real object storage, real email API, 18 backend tests, 0 console errors.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09 · WHAT’S NEXT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09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6F7FB"/>
                </a:solidFill>
                <a:latin typeface="Calibri"/>
              </a:rPr>
              <a:t>From hackathon to platform.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2880360"/>
            <a:ext cx="3703320" cy="329184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2880360"/>
            <a:ext cx="3703320" cy="54864"/>
          </a:xfrm>
          <a:prstGeom prst="rect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31546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NOW</a:t>
            </a:r>
          </a:p>
        </p:txBody>
      </p:sp>
      <p:sp>
        <p:nvSpPr>
          <p:cNvPr id="42" name="Oval 41"/>
          <p:cNvSpPr/>
          <p:nvPr/>
        </p:nvSpPr>
        <p:spPr>
          <a:xfrm>
            <a:off x="822960" y="3703320"/>
            <a:ext cx="164592" cy="164592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7280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Two-sided demo ready</a:t>
            </a:r>
          </a:p>
        </p:txBody>
      </p:sp>
      <p:sp>
        <p:nvSpPr>
          <p:cNvPr id="44" name="Oval 43"/>
          <p:cNvSpPr/>
          <p:nvPr/>
        </p:nvSpPr>
        <p:spPr>
          <a:xfrm>
            <a:off x="822960" y="4206240"/>
            <a:ext cx="164592" cy="164592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1605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Real object storage + email</a:t>
            </a:r>
          </a:p>
        </p:txBody>
      </p:sp>
      <p:sp>
        <p:nvSpPr>
          <p:cNvPr id="46" name="Oval 45"/>
          <p:cNvSpPr/>
          <p:nvPr/>
        </p:nvSpPr>
        <p:spPr>
          <a:xfrm>
            <a:off x="822960" y="4709160"/>
            <a:ext cx="164592" cy="164592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7280" y="46634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Deterministic AI match</a:t>
            </a:r>
          </a:p>
        </p:txBody>
      </p:sp>
      <p:sp>
        <p:nvSpPr>
          <p:cNvPr id="48" name="Oval 47"/>
          <p:cNvSpPr/>
          <p:nvPr/>
        </p:nvSpPr>
        <p:spPr>
          <a:xfrm>
            <a:off x="822960" y="5212080"/>
            <a:ext cx="164592" cy="164592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97280" y="51663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Full application pipeline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2880360"/>
            <a:ext cx="3703320" cy="329184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89120" y="2880360"/>
            <a:ext cx="3703320" cy="54864"/>
          </a:xfrm>
          <a:prstGeom prst="rect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63440" y="31546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9A7AFF"/>
                </a:solidFill>
                <a:latin typeface="Consolas"/>
              </a:rPr>
              <a:t>NEXT 4 WEEKS</a:t>
            </a:r>
          </a:p>
        </p:txBody>
      </p:sp>
      <p:sp>
        <p:nvSpPr>
          <p:cNvPr id="53" name="Oval 52"/>
          <p:cNvSpPr/>
          <p:nvPr/>
        </p:nvSpPr>
        <p:spPr>
          <a:xfrm>
            <a:off x="4663440" y="3703320"/>
            <a:ext cx="164592" cy="164592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37760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Session-based auth + Google OAuth</a:t>
            </a:r>
          </a:p>
        </p:txBody>
      </p:sp>
      <p:sp>
        <p:nvSpPr>
          <p:cNvPr id="55" name="Oval 54"/>
          <p:cNvSpPr/>
          <p:nvPr/>
        </p:nvSpPr>
        <p:spPr>
          <a:xfrm>
            <a:off x="4663440" y="4206240"/>
            <a:ext cx="164592" cy="164592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37760" y="41605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Verified sender domain for Resend</a:t>
            </a:r>
          </a:p>
        </p:txBody>
      </p:sp>
      <p:sp>
        <p:nvSpPr>
          <p:cNvPr id="57" name="Oval 56"/>
          <p:cNvSpPr/>
          <p:nvPr/>
        </p:nvSpPr>
        <p:spPr>
          <a:xfrm>
            <a:off x="4663440" y="4709160"/>
            <a:ext cx="164592" cy="164592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37760" y="46634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Recruiter messaging inline</a:t>
            </a:r>
          </a:p>
        </p:txBody>
      </p:sp>
      <p:sp>
        <p:nvSpPr>
          <p:cNvPr id="59" name="Oval 58"/>
          <p:cNvSpPr/>
          <p:nvPr/>
        </p:nvSpPr>
        <p:spPr>
          <a:xfrm>
            <a:off x="4663440" y="5212080"/>
            <a:ext cx="164592" cy="164592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37760" y="51663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Public shareable profile URL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2880360"/>
            <a:ext cx="3703320" cy="329184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29600" y="2880360"/>
            <a:ext cx="3703320" cy="54864"/>
          </a:xfrm>
          <a:prstGeom prst="rect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03920" y="31546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F78AD5"/>
                </a:solidFill>
                <a:latin typeface="Consolas"/>
              </a:rPr>
              <a:t>NEXT 6 MONTHS</a:t>
            </a:r>
          </a:p>
        </p:txBody>
      </p:sp>
      <p:sp>
        <p:nvSpPr>
          <p:cNvPr id="64" name="Oval 63"/>
          <p:cNvSpPr/>
          <p:nvPr/>
        </p:nvSpPr>
        <p:spPr>
          <a:xfrm>
            <a:off x="8503920" y="3703320"/>
            <a:ext cx="164592" cy="164592"/>
          </a:xfrm>
          <a:prstGeom prst="ellipse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78240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Interview scheduler</a:t>
            </a:r>
          </a:p>
        </p:txBody>
      </p:sp>
      <p:sp>
        <p:nvSpPr>
          <p:cNvPr id="66" name="Oval 65"/>
          <p:cNvSpPr/>
          <p:nvPr/>
        </p:nvSpPr>
        <p:spPr>
          <a:xfrm>
            <a:off x="8503920" y="4206240"/>
            <a:ext cx="164592" cy="164592"/>
          </a:xfrm>
          <a:prstGeom prst="ellipse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78240" y="41605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Skill assessments (auto-verified)</a:t>
            </a:r>
          </a:p>
        </p:txBody>
      </p:sp>
      <p:sp>
        <p:nvSpPr>
          <p:cNvPr id="68" name="Oval 67"/>
          <p:cNvSpPr/>
          <p:nvPr/>
        </p:nvSpPr>
        <p:spPr>
          <a:xfrm>
            <a:off x="8503920" y="4709160"/>
            <a:ext cx="164592" cy="164592"/>
          </a:xfrm>
          <a:prstGeom prst="ellipse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778240" y="46634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Team dashboards for colleges</a:t>
            </a:r>
          </a:p>
        </p:txBody>
      </p:sp>
      <p:sp>
        <p:nvSpPr>
          <p:cNvPr id="70" name="Oval 69"/>
          <p:cNvSpPr/>
          <p:nvPr/>
        </p:nvSpPr>
        <p:spPr>
          <a:xfrm>
            <a:off x="8503920" y="5212080"/>
            <a:ext cx="164592" cy="164592"/>
          </a:xfrm>
          <a:prstGeom prst="ellipse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78240" y="51663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Freelance escrow (Stripe)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10 · THE TEAM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10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6F7FB"/>
                </a:solidFill>
                <a:latin typeface="Calibri"/>
              </a:rPr>
              <a:t>Small team. Full stack. One sprint.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2880360"/>
            <a:ext cx="2670733" cy="310896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68680" y="3337560"/>
            <a:ext cx="1463040" cy="1463040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379476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80A12"/>
                </a:solidFill>
                <a:latin typeface="Calibri"/>
              </a:rPr>
              <a:t>B1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029200"/>
            <a:ext cx="21220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0">
                <a:solidFill>
                  <a:srgbClr val="F6F7FB"/>
                </a:solidFill>
                <a:latin typeface="Consolas"/>
              </a:rPr>
              <a:t>BUILDER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349240"/>
            <a:ext cx="212209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Full-stack lead — React, FastAPI, Mongo, tests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56533" y="2880360"/>
            <a:ext cx="2670733" cy="310896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676573" y="3337560"/>
            <a:ext cx="1463040" cy="1463040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6573" y="379476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80A12"/>
                </a:solidFill>
                <a:latin typeface="Calibri"/>
              </a:rPr>
              <a:t>B2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30853" y="5029200"/>
            <a:ext cx="21220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0">
                <a:solidFill>
                  <a:srgbClr val="F6F7FB"/>
                </a:solidFill>
                <a:latin typeface="Consolas"/>
              </a:rPr>
              <a:t>BUILDER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853" y="5349240"/>
            <a:ext cx="212209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AI + product logic — match engine, personalisation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64427" y="2880360"/>
            <a:ext cx="2670733" cy="310896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484467" y="3337560"/>
            <a:ext cx="1463040" cy="1463040"/>
          </a:xfrm>
          <a:prstGeom prst="ellipse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84467" y="379476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80A12"/>
                </a:solidFill>
                <a:latin typeface="Calibri"/>
              </a:rPr>
              <a:t>B3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38747" y="5029200"/>
            <a:ext cx="21220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0">
                <a:solidFill>
                  <a:srgbClr val="F6F7FB"/>
                </a:solidFill>
                <a:latin typeface="Consolas"/>
              </a:rPr>
              <a:t>BUILDER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8747" y="5349240"/>
            <a:ext cx="212209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Design &amp; motion — dark-mode system, animations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72321" y="2880360"/>
            <a:ext cx="2670733" cy="310896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292361" y="3337560"/>
            <a:ext cx="1463040" cy="1463040"/>
          </a:xfrm>
          <a:prstGeom prst="ellipse">
            <a:avLst/>
          </a:prstGeom>
          <a:solidFill>
            <a:srgbClr val="F4B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2361" y="379476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80A12"/>
                </a:solidFill>
                <a:latin typeface="Calibri"/>
              </a:rPr>
              <a:t>B4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46641" y="5029200"/>
            <a:ext cx="21220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0">
                <a:solidFill>
                  <a:srgbClr val="F6F7FB"/>
                </a:solidFill>
                <a:latin typeface="Consolas"/>
              </a:rPr>
              <a:t>BUILDER 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46641" y="5349240"/>
            <a:ext cx="212209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Integrations — Resend email, object storage, deploys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spc="140">
                <a:solidFill>
                  <a:srgbClr val="9299AD"/>
                </a:solidFill>
                <a:latin typeface="Consolas"/>
              </a:rPr>
              <a:t>Replace with your teammates’ names, roles and photos before presenting.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54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331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08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86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406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49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26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04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6586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777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554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331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31089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38862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46634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54406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2179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686800" y="1645920"/>
            <a:ext cx="3474720" cy="3474720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0" y="5029200"/>
            <a:ext cx="3474720" cy="3474720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TRY IT · ASK US · JUDGE 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514600"/>
            <a:ext cx="8595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7200" b="1">
                <a:solidFill>
                  <a:srgbClr val="F6F7FB"/>
                </a:solidFill>
                <a:latin typeface="Calibri"/>
              </a:rPr>
              <a:t>Bridge your skills.</a:t>
            </a:r>
          </a:p>
          <a:p>
            <a:pPr>
              <a:lnSpc>
                <a:spcPct val="102000"/>
              </a:lnSpc>
            </a:pPr>
            <a:r>
              <a:rPr sz="4800" b="1">
                <a:solidFill>
                  <a:srgbClr val="F6F7FB"/>
                </a:solidFill>
                <a:latin typeface="Calibri"/>
              </a:rPr>
              <a:t>We built the bridge. </a:t>
            </a:r>
            <a:r>
              <a:rPr sz="4800" b="1">
                <a:solidFill>
                  <a:srgbClr val="9A7AFF"/>
                </a:solidFill>
                <a:latin typeface="Calibri"/>
              </a:rPr>
              <a:t>Ready to walk it?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9496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299AD"/>
                </a:solidFill>
                <a:latin typeface="Calibri"/>
              </a:rPr>
              <a:t>Live demo · Student aarav@demo.com · Professional maya@demo.com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6035040"/>
            <a:ext cx="2011680" cy="292608"/>
          </a:xfrm>
          <a:prstGeom prst="roundRect">
            <a:avLst/>
          </a:prstGeom>
          <a:solidFill>
            <a:srgbClr val="101F27"/>
          </a:solidFill>
          <a:ln w="9525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66E4EE"/>
                </a:solidFill>
                <a:latin typeface="Consolas"/>
              </a:rPr>
              <a:t>TRY THE DEMO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43200" y="6035040"/>
            <a:ext cx="2560320" cy="292608"/>
          </a:xfrm>
          <a:prstGeom prst="roundRect">
            <a:avLst/>
          </a:prstGeom>
          <a:solidFill>
            <a:srgbClr val="101F27"/>
          </a:solidFill>
          <a:ln w="9525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9A7AFF"/>
                </a:solidFill>
                <a:latin typeface="Consolas"/>
              </a:rPr>
              <a:t>QUESTIONS · WELCOME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0" y="6035040"/>
            <a:ext cx="2194560" cy="292608"/>
          </a:xfrm>
          <a:prstGeom prst="roundRect">
            <a:avLst/>
          </a:prstGeom>
          <a:solidFill>
            <a:srgbClr val="101F27"/>
          </a:solidFill>
          <a:ln w="9525">
            <a:solidFill>
              <a:srgbClr val="F78A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78AD5"/>
                </a:solidFill>
                <a:latin typeface="Consolas"/>
              </a:rPr>
              <a:t>THANK YOU · JUDGES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1160" y="2331720"/>
            <a:ext cx="2468880" cy="3566160"/>
          </a:xfrm>
          <a:prstGeom prst="rect">
            <a:avLst/>
          </a:prstGeom>
          <a:solidFill>
            <a:srgbClr val="111522"/>
          </a:solidFill>
          <a:ln w="9525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760" y="2560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SCAN · OPEN ON YOUR PHONE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01200" y="2971800"/>
            <a:ext cx="1828800" cy="182880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_qr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3063240"/>
            <a:ext cx="1645920" cy="16459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09760" y="49377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6F7FB"/>
                </a:solidFill>
                <a:latin typeface="Calibri"/>
              </a:rPr>
              <a:t>Try it while we talk.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52578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100">
                <a:solidFill>
                  <a:srgbClr val="66E4EE"/>
                </a:solidFill>
                <a:latin typeface="Consolas"/>
              </a:rPr>
              <a:t>ai-match-hub-10.preview.emergentagent.com/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